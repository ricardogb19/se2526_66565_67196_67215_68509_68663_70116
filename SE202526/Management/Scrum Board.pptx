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21599525" cy="10799763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736200" y="1563480"/>
            <a:ext cx="20127240" cy="430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pt-PT" sz="5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pt-PT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20013840" y="9791640"/>
            <a:ext cx="1295640" cy="82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AC89BB-D5CD-4B41-8B01-17507CA6BD6A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pt-PT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1079640" y="2526840"/>
            <a:ext cx="19439280" cy="626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pt-P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pt-P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pt-P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6200" y="2322720"/>
            <a:ext cx="20127240" cy="412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0" lang="pt-PT" sz="1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b="0" lang="pt-PT" sz="1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6200" y="6618960"/>
            <a:ext cx="20127240" cy="273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2"/>
          </p:nvPr>
        </p:nvSpPr>
        <p:spPr>
          <a:xfrm>
            <a:off x="20013840" y="9791640"/>
            <a:ext cx="1295640" cy="82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360A8F-F107-4CE2-A45E-3C73F7CEE5C8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pt-PT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Num" idx="3"/>
          </p:nvPr>
        </p:nvSpPr>
        <p:spPr>
          <a:xfrm>
            <a:off x="20013840" y="9791640"/>
            <a:ext cx="1295640" cy="82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4D6EE8-AD7A-46A0-A132-FCC42D9FBFA8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pt-PT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36200" y="4516200"/>
            <a:ext cx="20127240" cy="176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pt-PT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pt-PT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4"/>
          </p:nvPr>
        </p:nvSpPr>
        <p:spPr>
          <a:xfrm>
            <a:off x="20013840" y="9791640"/>
            <a:ext cx="1295640" cy="82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C16299-13A3-4001-A1E7-5458C2DC4991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pt-PT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36200" y="934560"/>
            <a:ext cx="20127240" cy="120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pt-P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pt-P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36200" y="2419920"/>
            <a:ext cx="20127240" cy="717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5"/>
          </p:nvPr>
        </p:nvSpPr>
        <p:spPr>
          <a:xfrm>
            <a:off x="20013840" y="9791640"/>
            <a:ext cx="1295640" cy="82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2E0988-5A0A-452E-B7CB-A524E1734619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pt-PT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6200" y="934560"/>
            <a:ext cx="20127240" cy="120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pt-P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pt-P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36200" y="2419920"/>
            <a:ext cx="9448200" cy="717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11415240" y="2419920"/>
            <a:ext cx="9448200" cy="717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6"/>
          </p:nvPr>
        </p:nvSpPr>
        <p:spPr>
          <a:xfrm>
            <a:off x="20013840" y="9791640"/>
            <a:ext cx="1295640" cy="82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BD4D55-BC77-42E3-B773-E4A6F52CE01F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pt-PT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36200" y="934560"/>
            <a:ext cx="20127240" cy="120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pt-P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pt-P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7"/>
          </p:nvPr>
        </p:nvSpPr>
        <p:spPr>
          <a:xfrm>
            <a:off x="20013840" y="9791640"/>
            <a:ext cx="1295640" cy="82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CBD4F2-708E-4F37-84B0-46F5AC72589A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pt-PT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6200" y="1166760"/>
            <a:ext cx="6632640" cy="158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pt-P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pt-P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6200" y="2917800"/>
            <a:ext cx="6632640" cy="667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pt-P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pt-P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pt-P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pt-P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pt-P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pt-P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pt-P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ldNum" idx="8"/>
          </p:nvPr>
        </p:nvSpPr>
        <p:spPr>
          <a:xfrm>
            <a:off x="20013840" y="9791640"/>
            <a:ext cx="1295640" cy="82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974C0B-9102-4394-81F2-9D7A882539D2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pt-PT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158120" y="945360"/>
            <a:ext cx="15041520" cy="858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pt-PT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pt-PT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ldNum" idx="9"/>
          </p:nvPr>
        </p:nvSpPr>
        <p:spPr>
          <a:xfrm>
            <a:off x="20013840" y="9791640"/>
            <a:ext cx="1295640" cy="82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3D98AD-1766-4182-880D-BA3820133D4F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pt-PT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36;p9"/>
          <p:cNvSpPr/>
          <p:nvPr/>
        </p:nvSpPr>
        <p:spPr>
          <a:xfrm>
            <a:off x="10800000" y="-360"/>
            <a:ext cx="10799640" cy="10799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27120" y="2589480"/>
            <a:ext cx="9555480" cy="311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pt-PT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pt-PT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11667960" y="1520280"/>
            <a:ext cx="9063720" cy="775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10"/>
          </p:nvPr>
        </p:nvSpPr>
        <p:spPr>
          <a:xfrm>
            <a:off x="20013840" y="9791640"/>
            <a:ext cx="1295640" cy="82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9EE860-B6A7-492A-A22A-C91C5EA948B3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pt-PT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body"/>
          </p:nvPr>
        </p:nvSpPr>
        <p:spPr>
          <a:xfrm>
            <a:off x="736200" y="8883000"/>
            <a:ext cx="14170320" cy="127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4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ldNum" idx="11"/>
          </p:nvPr>
        </p:nvSpPr>
        <p:spPr>
          <a:xfrm>
            <a:off x="20013840" y="9791640"/>
            <a:ext cx="1295640" cy="82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2EA96F-6760-4A54-85D2-3FBAFB844795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pt-PT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54;p13" descr=""/>
          <p:cNvPicPr/>
          <p:nvPr/>
        </p:nvPicPr>
        <p:blipFill>
          <a:blip r:embed="rId1">
            <a:alphaModFix amt="51000"/>
          </a:blip>
          <a:stretch/>
        </p:blipFill>
        <p:spPr>
          <a:xfrm>
            <a:off x="0" y="0"/>
            <a:ext cx="21599640" cy="1079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Google Shape;55;p13" descr=""/>
          <p:cNvPicPr/>
          <p:nvPr/>
        </p:nvPicPr>
        <p:blipFill>
          <a:blip r:embed="rId2"/>
          <a:stretch/>
        </p:blipFill>
        <p:spPr>
          <a:xfrm>
            <a:off x="859680" y="4015080"/>
            <a:ext cx="19879920" cy="2769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60;p14" descr=""/>
          <p:cNvPicPr/>
          <p:nvPr/>
        </p:nvPicPr>
        <p:blipFill>
          <a:blip r:embed="rId1">
            <a:alphaModFix amt="51000"/>
          </a:blip>
          <a:stretch/>
        </p:blipFill>
        <p:spPr>
          <a:xfrm>
            <a:off x="0" y="0"/>
            <a:ext cx="21599640" cy="1079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Google Shape;61;p14"/>
          <p:cNvSpPr txBox="1"/>
          <p:nvPr/>
        </p:nvSpPr>
        <p:spPr>
          <a:xfrm>
            <a:off x="814320" y="3300840"/>
            <a:ext cx="19971000" cy="4198320"/>
          </a:xfrm>
          <a:prstGeom prst="rect">
            <a:avLst/>
          </a:prstGeom>
        </p:spPr>
        <p:txBody>
          <a:bodyPr wrap="none" lIns="147240" rIns="147240" tIns="102240" bIns="102240" anchor="ctr" anchorCtr="1">
            <a:prstTxWarp prst="textPlain">
              <a:avLst>
                <a:gd name="adj" fmla="val 50000"/>
              </a:avLst>
            </a:prstTxWarp>
            <a:noAutofit/>
          </a:bodyPr>
          <a:p>
            <a:pPr algn="ctr">
              <a:lnSpc>
                <a:spcPct val="100000"/>
              </a:lnSpc>
            </a:pPr>
            <a:r>
              <a:rPr b="1" lang="pt-PT" sz="1400" strike="noStrike" u="none">
                <a:ln w="114480">
                  <a:solidFill>
                    <a:srgbClr val="434343"/>
                  </a:solidFill>
                  <a:round/>
                </a:ln>
                <a:solidFill>
                  <a:schemeClr val="lt1"/>
                </a:solidFill>
                <a:uFillTx/>
                <a:latin typeface="Consolas"/>
                <a:ea typeface="Arial"/>
              </a:rPr>
              <a:t>Sprint 1</a:t>
            </a:r>
            <a:endParaRPr b="0" lang="pt-PT" sz="1400" strike="noStrike" u="none">
              <a:ln w="114480">
                <a:solidFill>
                  <a:srgbClr val="434343"/>
                </a:solidFill>
                <a:round/>
              </a:ln>
              <a:solidFill>
                <a:schemeClr val="lt1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Google Shape;66;p15"/>
          <p:cNvCxnSpPr/>
          <p:nvPr/>
        </p:nvCxnSpPr>
        <p:spPr>
          <a:xfrm>
            <a:off x="5944680" y="-31320"/>
            <a:ext cx="360" cy="10856880"/>
          </a:xfrm>
          <a:prstGeom prst="straightConnector1">
            <a:avLst/>
          </a:prstGeom>
          <a:ln w="38100">
            <a:solidFill>
              <a:srgbClr val="5b0f00"/>
            </a:solidFill>
            <a:round/>
          </a:ln>
        </p:spPr>
      </p:cxnSp>
      <p:sp>
        <p:nvSpPr>
          <p:cNvPr id="34" name="Google Shape;67;p15"/>
          <p:cNvSpPr/>
          <p:nvPr/>
        </p:nvSpPr>
        <p:spPr>
          <a:xfrm>
            <a:off x="319716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ID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Google Shape;68;p15"/>
          <p:cNvSpPr/>
          <p:nvPr/>
        </p:nvSpPr>
        <p:spPr>
          <a:xfrm>
            <a:off x="628164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Story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Google Shape;69;p15"/>
          <p:cNvSpPr/>
          <p:nvPr/>
        </p:nvSpPr>
        <p:spPr>
          <a:xfrm>
            <a:off x="936612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To Do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Google Shape;70;p15"/>
          <p:cNvSpPr/>
          <p:nvPr/>
        </p:nvSpPr>
        <p:spPr>
          <a:xfrm>
            <a:off x="1239588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Doing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Google Shape;71;p15"/>
          <p:cNvSpPr/>
          <p:nvPr/>
        </p:nvSpPr>
        <p:spPr>
          <a:xfrm>
            <a:off x="1553256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Review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Google Shape;72;p15"/>
          <p:cNvSpPr/>
          <p:nvPr/>
        </p:nvSpPr>
        <p:spPr>
          <a:xfrm>
            <a:off x="1866888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Done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Google Shape;73;p15"/>
          <p:cNvSpPr/>
          <p:nvPr/>
        </p:nvSpPr>
        <p:spPr>
          <a:xfrm>
            <a:off x="16740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Backlog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Google Shape;74;p15"/>
          <p:cNvSpPr/>
          <p:nvPr/>
        </p:nvSpPr>
        <p:spPr>
          <a:xfrm>
            <a:off x="3197160" y="13856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66565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Google Shape;75;p15"/>
          <p:cNvSpPr/>
          <p:nvPr/>
        </p:nvSpPr>
        <p:spPr>
          <a:xfrm>
            <a:off x="3197160" y="29613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67196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Google Shape;76;p15"/>
          <p:cNvSpPr/>
          <p:nvPr/>
        </p:nvSpPr>
        <p:spPr>
          <a:xfrm>
            <a:off x="3197160" y="45374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67215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77;p15"/>
          <p:cNvSpPr/>
          <p:nvPr/>
        </p:nvSpPr>
        <p:spPr>
          <a:xfrm>
            <a:off x="3197160" y="61131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PT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68509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Google Shape;78;p15"/>
          <p:cNvSpPr/>
          <p:nvPr/>
        </p:nvSpPr>
        <p:spPr>
          <a:xfrm>
            <a:off x="3197160" y="7689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68663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79;p15"/>
          <p:cNvSpPr/>
          <p:nvPr/>
        </p:nvSpPr>
        <p:spPr>
          <a:xfrm>
            <a:off x="3197160" y="92649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70116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7" name="Google Shape;80;p15"/>
          <p:cNvCxnSpPr/>
          <p:nvPr/>
        </p:nvCxnSpPr>
        <p:spPr>
          <a:xfrm>
            <a:off x="5607720" y="16257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48" name="Google Shape;81;p15"/>
          <p:cNvCxnSpPr/>
          <p:nvPr/>
        </p:nvCxnSpPr>
        <p:spPr>
          <a:xfrm>
            <a:off x="5607720" y="32018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49" name="Google Shape;82;p15"/>
          <p:cNvCxnSpPr/>
          <p:nvPr/>
        </p:nvCxnSpPr>
        <p:spPr>
          <a:xfrm>
            <a:off x="5607720" y="47775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50" name="Google Shape;83;p15"/>
          <p:cNvCxnSpPr/>
          <p:nvPr/>
        </p:nvCxnSpPr>
        <p:spPr>
          <a:xfrm>
            <a:off x="5607720" y="63536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51" name="Google Shape;84;p15"/>
          <p:cNvCxnSpPr/>
          <p:nvPr/>
        </p:nvCxnSpPr>
        <p:spPr>
          <a:xfrm>
            <a:off x="5607720" y="79293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52" name="Google Shape;85;p15"/>
          <p:cNvCxnSpPr/>
          <p:nvPr/>
        </p:nvCxnSpPr>
        <p:spPr>
          <a:xfrm>
            <a:off x="5607720" y="95054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sp>
        <p:nvSpPr>
          <p:cNvPr id="53" name="Google Shape;86;p15"/>
          <p:cNvSpPr/>
          <p:nvPr/>
        </p:nvSpPr>
        <p:spPr>
          <a:xfrm>
            <a:off x="167400" y="801720"/>
            <a:ext cx="2410560" cy="26402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US1: </a:t>
            </a: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Como jogador do mindustry sinto falta de níveis de eficiência nas máquinas. Assim que as adquirimos não existe forma de serem melhoradas. Se existisse esta opção o jogo seria mais desafiante e completo.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87;p15"/>
          <p:cNvSpPr/>
          <p:nvPr/>
        </p:nvSpPr>
        <p:spPr>
          <a:xfrm>
            <a:off x="167400" y="7345800"/>
            <a:ext cx="2436840" cy="277632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US3:</a:t>
            </a: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Como um jogador veterano, gostaria de construir uma nova defesa que desativa as capacidades aéreas destas unidades, para que eu possa lidar com elas numa maneira estratégica, forçando-as a lutar no chão.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5" name="Google Shape;91;p15"/>
          <p:cNvCxnSpPr/>
          <p:nvPr/>
        </p:nvCxnSpPr>
        <p:spPr>
          <a:xfrm>
            <a:off x="2874240" y="-28440"/>
            <a:ext cx="360" cy="10857240"/>
          </a:xfrm>
          <a:prstGeom prst="straightConnector1">
            <a:avLst/>
          </a:prstGeom>
          <a:ln w="38100">
            <a:solidFill>
              <a:srgbClr val="5b0f00"/>
            </a:solidFill>
            <a:round/>
          </a:ln>
        </p:spPr>
      </p:cxnSp>
      <p:sp>
        <p:nvSpPr>
          <p:cNvPr id="56" name="Google Shape;92;p15"/>
          <p:cNvSpPr/>
          <p:nvPr/>
        </p:nvSpPr>
        <p:spPr>
          <a:xfrm>
            <a:off x="167400" y="3894840"/>
            <a:ext cx="2436840" cy="26402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US2: </a:t>
            </a:r>
            <a:r>
              <a:rPr b="0" lang="pt-P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Como jogador do jogo, gostaria de ter avisos mais chamativos quando o conveyor não tem destino, fica bloqueado ou está mal montado, para que eu possa manter informação em tempo real do estado do jogo.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97;p16"/>
          <p:cNvCxnSpPr/>
          <p:nvPr/>
        </p:nvCxnSpPr>
        <p:spPr>
          <a:xfrm>
            <a:off x="5944680" y="-31320"/>
            <a:ext cx="360" cy="10856880"/>
          </a:xfrm>
          <a:prstGeom prst="straightConnector1">
            <a:avLst/>
          </a:prstGeom>
          <a:ln w="38100">
            <a:solidFill>
              <a:srgbClr val="5b0f00"/>
            </a:solidFill>
            <a:round/>
          </a:ln>
        </p:spPr>
      </p:cxnSp>
      <p:sp>
        <p:nvSpPr>
          <p:cNvPr id="58" name="Google Shape;98;p16"/>
          <p:cNvSpPr/>
          <p:nvPr/>
        </p:nvSpPr>
        <p:spPr>
          <a:xfrm>
            <a:off x="319716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ID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Google Shape;99;p16"/>
          <p:cNvSpPr/>
          <p:nvPr/>
        </p:nvSpPr>
        <p:spPr>
          <a:xfrm>
            <a:off x="628164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Story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Google Shape;100;p16"/>
          <p:cNvSpPr/>
          <p:nvPr/>
        </p:nvSpPr>
        <p:spPr>
          <a:xfrm>
            <a:off x="936612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To Do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Google Shape;101;p16"/>
          <p:cNvSpPr/>
          <p:nvPr/>
        </p:nvSpPr>
        <p:spPr>
          <a:xfrm>
            <a:off x="1239588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Doing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102;p16"/>
          <p:cNvSpPr/>
          <p:nvPr/>
        </p:nvSpPr>
        <p:spPr>
          <a:xfrm>
            <a:off x="1553256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Review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103;p16"/>
          <p:cNvSpPr/>
          <p:nvPr/>
        </p:nvSpPr>
        <p:spPr>
          <a:xfrm>
            <a:off x="1866888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Done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104;p16"/>
          <p:cNvSpPr/>
          <p:nvPr/>
        </p:nvSpPr>
        <p:spPr>
          <a:xfrm>
            <a:off x="16740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Backlog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105;p16"/>
          <p:cNvSpPr/>
          <p:nvPr/>
        </p:nvSpPr>
        <p:spPr>
          <a:xfrm>
            <a:off x="3197160" y="13856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#1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106;p16"/>
          <p:cNvSpPr/>
          <p:nvPr/>
        </p:nvSpPr>
        <p:spPr>
          <a:xfrm>
            <a:off x="3197160" y="29613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#2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107;p16"/>
          <p:cNvSpPr/>
          <p:nvPr/>
        </p:nvSpPr>
        <p:spPr>
          <a:xfrm>
            <a:off x="3197160" y="45374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#3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108;p16"/>
          <p:cNvSpPr/>
          <p:nvPr/>
        </p:nvSpPr>
        <p:spPr>
          <a:xfrm>
            <a:off x="3197160" y="61131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#4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109;p16"/>
          <p:cNvSpPr/>
          <p:nvPr/>
        </p:nvSpPr>
        <p:spPr>
          <a:xfrm>
            <a:off x="3197160" y="7689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#5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110;p16"/>
          <p:cNvSpPr/>
          <p:nvPr/>
        </p:nvSpPr>
        <p:spPr>
          <a:xfrm>
            <a:off x="3197160" y="92649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#6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1" name="Google Shape;111;p16"/>
          <p:cNvCxnSpPr/>
          <p:nvPr/>
        </p:nvCxnSpPr>
        <p:spPr>
          <a:xfrm>
            <a:off x="5607720" y="16257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72" name="Google Shape;112;p16"/>
          <p:cNvCxnSpPr/>
          <p:nvPr/>
        </p:nvCxnSpPr>
        <p:spPr>
          <a:xfrm>
            <a:off x="5607720" y="32018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73" name="Google Shape;113;p16"/>
          <p:cNvCxnSpPr/>
          <p:nvPr/>
        </p:nvCxnSpPr>
        <p:spPr>
          <a:xfrm>
            <a:off x="5607720" y="47775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74" name="Google Shape;114;p16"/>
          <p:cNvCxnSpPr/>
          <p:nvPr/>
        </p:nvCxnSpPr>
        <p:spPr>
          <a:xfrm>
            <a:off x="5607720" y="63536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75" name="Google Shape;115;p16"/>
          <p:cNvCxnSpPr/>
          <p:nvPr/>
        </p:nvCxnSpPr>
        <p:spPr>
          <a:xfrm>
            <a:off x="5607720" y="79293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76" name="Google Shape;116;p16"/>
          <p:cNvCxnSpPr/>
          <p:nvPr/>
        </p:nvCxnSpPr>
        <p:spPr>
          <a:xfrm>
            <a:off x="5607720" y="95054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sp>
        <p:nvSpPr>
          <p:cNvPr id="77" name="Google Shape;117;p16"/>
          <p:cNvSpPr/>
          <p:nvPr/>
        </p:nvSpPr>
        <p:spPr>
          <a:xfrm>
            <a:off x="167400" y="801720"/>
            <a:ext cx="2410560" cy="16480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US1: [...]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18;p16"/>
          <p:cNvSpPr/>
          <p:nvPr/>
        </p:nvSpPr>
        <p:spPr>
          <a:xfrm>
            <a:off x="6281640" y="801720"/>
            <a:ext cx="2410560" cy="16480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US1: [...]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19;p16"/>
          <p:cNvSpPr/>
          <p:nvPr/>
        </p:nvSpPr>
        <p:spPr>
          <a:xfrm>
            <a:off x="12395520" y="801720"/>
            <a:ext cx="2410560" cy="16480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T1: [...]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20;p16"/>
          <p:cNvSpPr/>
          <p:nvPr/>
        </p:nvSpPr>
        <p:spPr>
          <a:xfrm>
            <a:off x="6281640" y="4042800"/>
            <a:ext cx="2410560" cy="164808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>
            <a:solidFill>
              <a:srgbClr val="134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US1: [...]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21;p16"/>
          <p:cNvSpPr/>
          <p:nvPr/>
        </p:nvSpPr>
        <p:spPr>
          <a:xfrm>
            <a:off x="15426000" y="3953520"/>
            <a:ext cx="2410560" cy="164808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>
            <a:solidFill>
              <a:srgbClr val="134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T2: [...]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2" name="Google Shape;122;p16"/>
          <p:cNvCxnSpPr/>
          <p:nvPr/>
        </p:nvCxnSpPr>
        <p:spPr>
          <a:xfrm>
            <a:off x="2874240" y="-28440"/>
            <a:ext cx="360" cy="10857240"/>
          </a:xfrm>
          <a:prstGeom prst="straightConnector1">
            <a:avLst/>
          </a:prstGeom>
          <a:ln w="38100">
            <a:solidFill>
              <a:srgbClr val="5b0f00"/>
            </a:solidFill>
            <a:round/>
          </a:ln>
        </p:spPr>
      </p:cxnSp>
      <p:sp>
        <p:nvSpPr>
          <p:cNvPr id="83" name="Google Shape;123;p16"/>
          <p:cNvSpPr/>
          <p:nvPr/>
        </p:nvSpPr>
        <p:spPr>
          <a:xfrm>
            <a:off x="140760" y="2687040"/>
            <a:ext cx="2410560" cy="16480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US2: [...]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128;p17"/>
          <p:cNvCxnSpPr/>
          <p:nvPr/>
        </p:nvCxnSpPr>
        <p:spPr>
          <a:xfrm>
            <a:off x="5944680" y="-31320"/>
            <a:ext cx="360" cy="10856880"/>
          </a:xfrm>
          <a:prstGeom prst="straightConnector1">
            <a:avLst/>
          </a:prstGeom>
          <a:ln w="38100">
            <a:solidFill>
              <a:srgbClr val="5b0f00"/>
            </a:solidFill>
            <a:round/>
          </a:ln>
        </p:spPr>
      </p:cxnSp>
      <p:sp>
        <p:nvSpPr>
          <p:cNvPr id="85" name="Google Shape;129;p17"/>
          <p:cNvSpPr/>
          <p:nvPr/>
        </p:nvSpPr>
        <p:spPr>
          <a:xfrm>
            <a:off x="319716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ID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30;p17"/>
          <p:cNvSpPr/>
          <p:nvPr/>
        </p:nvSpPr>
        <p:spPr>
          <a:xfrm>
            <a:off x="628164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Story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31;p17"/>
          <p:cNvSpPr/>
          <p:nvPr/>
        </p:nvSpPr>
        <p:spPr>
          <a:xfrm>
            <a:off x="936612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To Do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32;p17"/>
          <p:cNvSpPr/>
          <p:nvPr/>
        </p:nvSpPr>
        <p:spPr>
          <a:xfrm>
            <a:off x="1239588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Doing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33;p17"/>
          <p:cNvSpPr/>
          <p:nvPr/>
        </p:nvSpPr>
        <p:spPr>
          <a:xfrm>
            <a:off x="1553256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Review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34;p17"/>
          <p:cNvSpPr/>
          <p:nvPr/>
        </p:nvSpPr>
        <p:spPr>
          <a:xfrm>
            <a:off x="1866888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Done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35;p17"/>
          <p:cNvSpPr/>
          <p:nvPr/>
        </p:nvSpPr>
        <p:spPr>
          <a:xfrm>
            <a:off x="16740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Backlog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36;p17"/>
          <p:cNvSpPr/>
          <p:nvPr/>
        </p:nvSpPr>
        <p:spPr>
          <a:xfrm>
            <a:off x="3197160" y="13856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#1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37;p17"/>
          <p:cNvSpPr/>
          <p:nvPr/>
        </p:nvSpPr>
        <p:spPr>
          <a:xfrm>
            <a:off x="3197160" y="29613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#2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38;p17"/>
          <p:cNvSpPr/>
          <p:nvPr/>
        </p:nvSpPr>
        <p:spPr>
          <a:xfrm>
            <a:off x="3197160" y="45374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#3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39;p17"/>
          <p:cNvSpPr/>
          <p:nvPr/>
        </p:nvSpPr>
        <p:spPr>
          <a:xfrm>
            <a:off x="3197160" y="61131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#4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40;p17"/>
          <p:cNvSpPr/>
          <p:nvPr/>
        </p:nvSpPr>
        <p:spPr>
          <a:xfrm>
            <a:off x="3197160" y="7689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#5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41;p17"/>
          <p:cNvSpPr/>
          <p:nvPr/>
        </p:nvSpPr>
        <p:spPr>
          <a:xfrm>
            <a:off x="3197160" y="92649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#6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8" name="Google Shape;142;p17"/>
          <p:cNvCxnSpPr/>
          <p:nvPr/>
        </p:nvCxnSpPr>
        <p:spPr>
          <a:xfrm>
            <a:off x="5607720" y="16257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99" name="Google Shape;143;p17"/>
          <p:cNvCxnSpPr/>
          <p:nvPr/>
        </p:nvCxnSpPr>
        <p:spPr>
          <a:xfrm>
            <a:off x="5607720" y="32018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100" name="Google Shape;144;p17"/>
          <p:cNvCxnSpPr/>
          <p:nvPr/>
        </p:nvCxnSpPr>
        <p:spPr>
          <a:xfrm>
            <a:off x="5607720" y="47775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101" name="Google Shape;145;p17"/>
          <p:cNvCxnSpPr/>
          <p:nvPr/>
        </p:nvCxnSpPr>
        <p:spPr>
          <a:xfrm>
            <a:off x="5607720" y="63536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102" name="Google Shape;146;p17"/>
          <p:cNvCxnSpPr/>
          <p:nvPr/>
        </p:nvCxnSpPr>
        <p:spPr>
          <a:xfrm>
            <a:off x="5607720" y="79293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103" name="Google Shape;147;p17"/>
          <p:cNvCxnSpPr/>
          <p:nvPr/>
        </p:nvCxnSpPr>
        <p:spPr>
          <a:xfrm>
            <a:off x="5607720" y="95054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sp>
        <p:nvSpPr>
          <p:cNvPr id="104" name="Google Shape;148;p17"/>
          <p:cNvSpPr/>
          <p:nvPr/>
        </p:nvSpPr>
        <p:spPr>
          <a:xfrm>
            <a:off x="167400" y="801720"/>
            <a:ext cx="2410560" cy="16480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US1: [...]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49;p17"/>
          <p:cNvSpPr/>
          <p:nvPr/>
        </p:nvSpPr>
        <p:spPr>
          <a:xfrm>
            <a:off x="6281640" y="801720"/>
            <a:ext cx="2410560" cy="16480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US1: [...]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50;p17"/>
          <p:cNvSpPr/>
          <p:nvPr/>
        </p:nvSpPr>
        <p:spPr>
          <a:xfrm>
            <a:off x="15532560" y="801720"/>
            <a:ext cx="2410560" cy="16480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T1: [...]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51;p17"/>
          <p:cNvSpPr/>
          <p:nvPr/>
        </p:nvSpPr>
        <p:spPr>
          <a:xfrm>
            <a:off x="6281640" y="4042800"/>
            <a:ext cx="2410560" cy="164808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>
            <a:solidFill>
              <a:srgbClr val="134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US1: [...]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52;p17"/>
          <p:cNvSpPr/>
          <p:nvPr/>
        </p:nvSpPr>
        <p:spPr>
          <a:xfrm>
            <a:off x="15426000" y="3953520"/>
            <a:ext cx="2410560" cy="164808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>
            <a:solidFill>
              <a:srgbClr val="134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T2: [...]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9" name="Google Shape;153;p17"/>
          <p:cNvCxnSpPr/>
          <p:nvPr/>
        </p:nvCxnSpPr>
        <p:spPr>
          <a:xfrm>
            <a:off x="2874240" y="-28440"/>
            <a:ext cx="360" cy="10857240"/>
          </a:xfrm>
          <a:prstGeom prst="straightConnector1">
            <a:avLst/>
          </a:prstGeom>
          <a:ln w="38100">
            <a:solidFill>
              <a:srgbClr val="5b0f00"/>
            </a:solidFill>
            <a:round/>
          </a:ln>
        </p:spPr>
      </p:cxnSp>
      <p:sp>
        <p:nvSpPr>
          <p:cNvPr id="110" name="Google Shape;154;p17"/>
          <p:cNvSpPr/>
          <p:nvPr/>
        </p:nvSpPr>
        <p:spPr>
          <a:xfrm>
            <a:off x="140760" y="2687040"/>
            <a:ext cx="2410560" cy="16480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US2: [...]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Google Shape;159;p18"/>
          <p:cNvCxnSpPr/>
          <p:nvPr/>
        </p:nvCxnSpPr>
        <p:spPr>
          <a:xfrm>
            <a:off x="5944680" y="-31320"/>
            <a:ext cx="360" cy="10856880"/>
          </a:xfrm>
          <a:prstGeom prst="straightConnector1">
            <a:avLst/>
          </a:prstGeom>
          <a:ln w="38100">
            <a:solidFill>
              <a:srgbClr val="5b0f00"/>
            </a:solidFill>
            <a:round/>
          </a:ln>
        </p:spPr>
      </p:cxnSp>
      <p:sp>
        <p:nvSpPr>
          <p:cNvPr id="112" name="Google Shape;160;p18"/>
          <p:cNvSpPr/>
          <p:nvPr/>
        </p:nvSpPr>
        <p:spPr>
          <a:xfrm>
            <a:off x="319716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ID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61;p18"/>
          <p:cNvSpPr/>
          <p:nvPr/>
        </p:nvSpPr>
        <p:spPr>
          <a:xfrm>
            <a:off x="628164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Story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62;p18"/>
          <p:cNvSpPr/>
          <p:nvPr/>
        </p:nvSpPr>
        <p:spPr>
          <a:xfrm>
            <a:off x="936612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To Do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63;p18"/>
          <p:cNvSpPr/>
          <p:nvPr/>
        </p:nvSpPr>
        <p:spPr>
          <a:xfrm>
            <a:off x="1239588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Doing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64;p18"/>
          <p:cNvSpPr/>
          <p:nvPr/>
        </p:nvSpPr>
        <p:spPr>
          <a:xfrm>
            <a:off x="1553256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Review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65;p18"/>
          <p:cNvSpPr/>
          <p:nvPr/>
        </p:nvSpPr>
        <p:spPr>
          <a:xfrm>
            <a:off x="1866888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Done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66;p18"/>
          <p:cNvSpPr/>
          <p:nvPr/>
        </p:nvSpPr>
        <p:spPr>
          <a:xfrm>
            <a:off x="16740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Backlog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67;p18"/>
          <p:cNvSpPr/>
          <p:nvPr/>
        </p:nvSpPr>
        <p:spPr>
          <a:xfrm>
            <a:off x="3197160" y="13856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#1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68;p18"/>
          <p:cNvSpPr/>
          <p:nvPr/>
        </p:nvSpPr>
        <p:spPr>
          <a:xfrm>
            <a:off x="3197160" y="29613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#2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69;p18"/>
          <p:cNvSpPr/>
          <p:nvPr/>
        </p:nvSpPr>
        <p:spPr>
          <a:xfrm>
            <a:off x="3197160" y="45374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#3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70;p18"/>
          <p:cNvSpPr/>
          <p:nvPr/>
        </p:nvSpPr>
        <p:spPr>
          <a:xfrm>
            <a:off x="3197160" y="61131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#4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71;p18"/>
          <p:cNvSpPr/>
          <p:nvPr/>
        </p:nvSpPr>
        <p:spPr>
          <a:xfrm>
            <a:off x="3197160" y="7689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#5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72;p18"/>
          <p:cNvSpPr/>
          <p:nvPr/>
        </p:nvSpPr>
        <p:spPr>
          <a:xfrm>
            <a:off x="3197160" y="92649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#6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5" name="Google Shape;173;p18"/>
          <p:cNvCxnSpPr/>
          <p:nvPr/>
        </p:nvCxnSpPr>
        <p:spPr>
          <a:xfrm>
            <a:off x="5607720" y="16257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126" name="Google Shape;174;p18"/>
          <p:cNvCxnSpPr/>
          <p:nvPr/>
        </p:nvCxnSpPr>
        <p:spPr>
          <a:xfrm>
            <a:off x="5607720" y="32018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127" name="Google Shape;175;p18"/>
          <p:cNvCxnSpPr/>
          <p:nvPr/>
        </p:nvCxnSpPr>
        <p:spPr>
          <a:xfrm>
            <a:off x="5607720" y="47775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128" name="Google Shape;176;p18"/>
          <p:cNvCxnSpPr/>
          <p:nvPr/>
        </p:nvCxnSpPr>
        <p:spPr>
          <a:xfrm>
            <a:off x="5607720" y="63536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129" name="Google Shape;177;p18"/>
          <p:cNvCxnSpPr/>
          <p:nvPr/>
        </p:nvCxnSpPr>
        <p:spPr>
          <a:xfrm>
            <a:off x="5607720" y="79293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130" name="Google Shape;178;p18"/>
          <p:cNvCxnSpPr/>
          <p:nvPr/>
        </p:nvCxnSpPr>
        <p:spPr>
          <a:xfrm>
            <a:off x="5607720" y="95054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sp>
        <p:nvSpPr>
          <p:cNvPr id="131" name="Google Shape;179;p18"/>
          <p:cNvSpPr/>
          <p:nvPr/>
        </p:nvSpPr>
        <p:spPr>
          <a:xfrm>
            <a:off x="167400" y="801720"/>
            <a:ext cx="2410560" cy="16480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US1: [...]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80;p18"/>
          <p:cNvSpPr/>
          <p:nvPr/>
        </p:nvSpPr>
        <p:spPr>
          <a:xfrm>
            <a:off x="6281640" y="801720"/>
            <a:ext cx="2410560" cy="16480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US1: [...]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81;p18"/>
          <p:cNvSpPr/>
          <p:nvPr/>
        </p:nvSpPr>
        <p:spPr>
          <a:xfrm>
            <a:off x="15532560" y="801720"/>
            <a:ext cx="2410560" cy="16480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T1: [...]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182;p18"/>
          <p:cNvSpPr/>
          <p:nvPr/>
        </p:nvSpPr>
        <p:spPr>
          <a:xfrm>
            <a:off x="6281640" y="4042800"/>
            <a:ext cx="2410560" cy="164808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>
            <a:solidFill>
              <a:srgbClr val="0c34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US1: [...]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183;p18"/>
          <p:cNvSpPr/>
          <p:nvPr/>
        </p:nvSpPr>
        <p:spPr>
          <a:xfrm>
            <a:off x="12395880" y="3953520"/>
            <a:ext cx="2410560" cy="164808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>
            <a:solidFill>
              <a:srgbClr val="0c34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T2: [...]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6" name="Google Shape;184;p18"/>
          <p:cNvCxnSpPr/>
          <p:nvPr/>
        </p:nvCxnSpPr>
        <p:spPr>
          <a:xfrm>
            <a:off x="2874240" y="-28440"/>
            <a:ext cx="360" cy="10857240"/>
          </a:xfrm>
          <a:prstGeom prst="straightConnector1">
            <a:avLst/>
          </a:prstGeom>
          <a:ln w="38100">
            <a:solidFill>
              <a:srgbClr val="5b0f00"/>
            </a:solidFill>
            <a:round/>
          </a:ln>
        </p:spPr>
      </p:cxnSp>
      <p:sp>
        <p:nvSpPr>
          <p:cNvPr id="137" name="Google Shape;185;p18"/>
          <p:cNvSpPr/>
          <p:nvPr/>
        </p:nvSpPr>
        <p:spPr>
          <a:xfrm>
            <a:off x="140760" y="2687040"/>
            <a:ext cx="2410560" cy="16480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US2: [...]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Google Shape;190;p19"/>
          <p:cNvCxnSpPr/>
          <p:nvPr/>
        </p:nvCxnSpPr>
        <p:spPr>
          <a:xfrm>
            <a:off x="5944680" y="-31320"/>
            <a:ext cx="360" cy="10856880"/>
          </a:xfrm>
          <a:prstGeom prst="straightConnector1">
            <a:avLst/>
          </a:prstGeom>
          <a:ln w="38100">
            <a:solidFill>
              <a:srgbClr val="5b0f00"/>
            </a:solidFill>
            <a:round/>
          </a:ln>
        </p:spPr>
      </p:cxnSp>
      <p:sp>
        <p:nvSpPr>
          <p:cNvPr id="139" name="Google Shape;191;p19"/>
          <p:cNvSpPr/>
          <p:nvPr/>
        </p:nvSpPr>
        <p:spPr>
          <a:xfrm>
            <a:off x="319716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ID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92;p19"/>
          <p:cNvSpPr/>
          <p:nvPr/>
        </p:nvSpPr>
        <p:spPr>
          <a:xfrm>
            <a:off x="628164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Story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193;p19"/>
          <p:cNvSpPr/>
          <p:nvPr/>
        </p:nvSpPr>
        <p:spPr>
          <a:xfrm>
            <a:off x="936612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To Do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194;p19"/>
          <p:cNvSpPr/>
          <p:nvPr/>
        </p:nvSpPr>
        <p:spPr>
          <a:xfrm>
            <a:off x="1239588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Doing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195;p19"/>
          <p:cNvSpPr/>
          <p:nvPr/>
        </p:nvSpPr>
        <p:spPr>
          <a:xfrm>
            <a:off x="1553256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Review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196;p19"/>
          <p:cNvSpPr/>
          <p:nvPr/>
        </p:nvSpPr>
        <p:spPr>
          <a:xfrm>
            <a:off x="1866888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Done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197;p19"/>
          <p:cNvSpPr/>
          <p:nvPr/>
        </p:nvSpPr>
        <p:spPr>
          <a:xfrm>
            <a:off x="16740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Backlog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198;p19"/>
          <p:cNvSpPr/>
          <p:nvPr/>
        </p:nvSpPr>
        <p:spPr>
          <a:xfrm>
            <a:off x="3197160" y="13856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#1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199;p19"/>
          <p:cNvSpPr/>
          <p:nvPr/>
        </p:nvSpPr>
        <p:spPr>
          <a:xfrm>
            <a:off x="3197160" y="29613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#2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200;p19"/>
          <p:cNvSpPr/>
          <p:nvPr/>
        </p:nvSpPr>
        <p:spPr>
          <a:xfrm>
            <a:off x="3197160" y="45374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#3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201;p19"/>
          <p:cNvSpPr/>
          <p:nvPr/>
        </p:nvSpPr>
        <p:spPr>
          <a:xfrm>
            <a:off x="3197160" y="61131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#4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Google Shape;202;p19"/>
          <p:cNvSpPr/>
          <p:nvPr/>
        </p:nvSpPr>
        <p:spPr>
          <a:xfrm>
            <a:off x="3197160" y="7689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#5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Google Shape;203;p19"/>
          <p:cNvSpPr/>
          <p:nvPr/>
        </p:nvSpPr>
        <p:spPr>
          <a:xfrm>
            <a:off x="3197160" y="92649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#6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2" name="Google Shape;204;p19"/>
          <p:cNvCxnSpPr/>
          <p:nvPr/>
        </p:nvCxnSpPr>
        <p:spPr>
          <a:xfrm>
            <a:off x="5607720" y="16257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153" name="Google Shape;205;p19"/>
          <p:cNvCxnSpPr/>
          <p:nvPr/>
        </p:nvCxnSpPr>
        <p:spPr>
          <a:xfrm>
            <a:off x="5607720" y="32018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154" name="Google Shape;206;p19"/>
          <p:cNvCxnSpPr/>
          <p:nvPr/>
        </p:nvCxnSpPr>
        <p:spPr>
          <a:xfrm>
            <a:off x="5607720" y="47775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155" name="Google Shape;207;p19"/>
          <p:cNvCxnSpPr/>
          <p:nvPr/>
        </p:nvCxnSpPr>
        <p:spPr>
          <a:xfrm>
            <a:off x="5607720" y="63536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156" name="Google Shape;208;p19"/>
          <p:cNvCxnSpPr/>
          <p:nvPr/>
        </p:nvCxnSpPr>
        <p:spPr>
          <a:xfrm>
            <a:off x="5607720" y="79293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157" name="Google Shape;209;p19"/>
          <p:cNvCxnSpPr/>
          <p:nvPr/>
        </p:nvCxnSpPr>
        <p:spPr>
          <a:xfrm>
            <a:off x="5607720" y="95054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sp>
        <p:nvSpPr>
          <p:cNvPr id="158" name="Google Shape;210;p19"/>
          <p:cNvSpPr/>
          <p:nvPr/>
        </p:nvSpPr>
        <p:spPr>
          <a:xfrm>
            <a:off x="167400" y="801720"/>
            <a:ext cx="2410560" cy="16480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US1: [...]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211;p19"/>
          <p:cNvSpPr/>
          <p:nvPr/>
        </p:nvSpPr>
        <p:spPr>
          <a:xfrm>
            <a:off x="6281640" y="801720"/>
            <a:ext cx="2410560" cy="16480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US1: [...]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212;p19"/>
          <p:cNvSpPr/>
          <p:nvPr/>
        </p:nvSpPr>
        <p:spPr>
          <a:xfrm>
            <a:off x="18668880" y="801720"/>
            <a:ext cx="2410560" cy="16480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T1: [...]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213;p19"/>
          <p:cNvSpPr/>
          <p:nvPr/>
        </p:nvSpPr>
        <p:spPr>
          <a:xfrm>
            <a:off x="6281640" y="4042800"/>
            <a:ext cx="2410560" cy="164808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>
            <a:solidFill>
              <a:srgbClr val="0c34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US1: [...]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Google Shape;214;p19"/>
          <p:cNvSpPr/>
          <p:nvPr/>
        </p:nvSpPr>
        <p:spPr>
          <a:xfrm>
            <a:off x="12395880" y="3953520"/>
            <a:ext cx="2410560" cy="164808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>
            <a:solidFill>
              <a:srgbClr val="0c34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T2: [...]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3" name="Google Shape;215;p19"/>
          <p:cNvCxnSpPr/>
          <p:nvPr/>
        </p:nvCxnSpPr>
        <p:spPr>
          <a:xfrm>
            <a:off x="2874240" y="-28440"/>
            <a:ext cx="360" cy="10857240"/>
          </a:xfrm>
          <a:prstGeom prst="straightConnector1">
            <a:avLst/>
          </a:prstGeom>
          <a:ln w="38100">
            <a:solidFill>
              <a:srgbClr val="5b0f00"/>
            </a:solidFill>
            <a:round/>
          </a:ln>
        </p:spPr>
      </p:cxnSp>
      <p:sp>
        <p:nvSpPr>
          <p:cNvPr id="164" name="Google Shape;216;p19"/>
          <p:cNvSpPr/>
          <p:nvPr/>
        </p:nvSpPr>
        <p:spPr>
          <a:xfrm>
            <a:off x="140760" y="2687040"/>
            <a:ext cx="2410560" cy="16480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US2: [...]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221;p20" descr=""/>
          <p:cNvPicPr/>
          <p:nvPr/>
        </p:nvPicPr>
        <p:blipFill>
          <a:blip r:embed="rId1">
            <a:alphaModFix amt="51000"/>
          </a:blip>
          <a:stretch/>
        </p:blipFill>
        <p:spPr>
          <a:xfrm>
            <a:off x="0" y="0"/>
            <a:ext cx="21599640" cy="1079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Google Shape;222;p20"/>
          <p:cNvSpPr txBox="1"/>
          <p:nvPr/>
        </p:nvSpPr>
        <p:spPr>
          <a:xfrm>
            <a:off x="814320" y="3300840"/>
            <a:ext cx="19957320" cy="4198320"/>
          </a:xfrm>
          <a:prstGeom prst="rect">
            <a:avLst/>
          </a:prstGeom>
        </p:spPr>
        <p:txBody>
          <a:bodyPr wrap="none" lIns="147240" rIns="147240" tIns="102240" bIns="102240" anchor="ctr" anchorCtr="1">
            <a:prstTxWarp prst="textPlain">
              <a:avLst>
                <a:gd name="adj" fmla="val 50000"/>
              </a:avLst>
            </a:prstTxWarp>
            <a:noAutofit/>
          </a:bodyPr>
          <a:p>
            <a:pPr algn="ctr">
              <a:lnSpc>
                <a:spcPct val="100000"/>
              </a:lnSpc>
            </a:pPr>
            <a:r>
              <a:rPr b="1" lang="pt-PT" sz="1400" strike="noStrike" u="none">
                <a:ln w="114480">
                  <a:solidFill>
                    <a:srgbClr val="434343"/>
                  </a:solidFill>
                  <a:round/>
                </a:ln>
                <a:solidFill>
                  <a:schemeClr val="lt1"/>
                </a:solidFill>
                <a:uFillTx/>
                <a:latin typeface="Consolas"/>
                <a:ea typeface="Arial"/>
              </a:rPr>
              <a:t>Sprint 2</a:t>
            </a:r>
            <a:endParaRPr b="0" lang="pt-PT" sz="1400" strike="noStrike" u="none">
              <a:ln w="114480">
                <a:solidFill>
                  <a:srgbClr val="434343"/>
                </a:solidFill>
                <a:round/>
              </a:ln>
              <a:solidFill>
                <a:schemeClr val="lt1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Google Shape;66;p15"/>
          <p:cNvCxnSpPr/>
          <p:nvPr/>
        </p:nvCxnSpPr>
        <p:spPr>
          <a:xfrm>
            <a:off x="5944680" y="-31320"/>
            <a:ext cx="360" cy="10856880"/>
          </a:xfrm>
          <a:prstGeom prst="straightConnector1">
            <a:avLst/>
          </a:prstGeom>
          <a:ln w="38100">
            <a:solidFill>
              <a:srgbClr val="5b0f00"/>
            </a:solidFill>
            <a:round/>
          </a:ln>
        </p:spPr>
      </p:cxnSp>
      <p:sp>
        <p:nvSpPr>
          <p:cNvPr id="168" name="Google Shape;67;p15"/>
          <p:cNvSpPr/>
          <p:nvPr/>
        </p:nvSpPr>
        <p:spPr>
          <a:xfrm>
            <a:off x="319716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ID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68;p15"/>
          <p:cNvSpPr/>
          <p:nvPr/>
        </p:nvSpPr>
        <p:spPr>
          <a:xfrm>
            <a:off x="628164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Story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69;p15"/>
          <p:cNvSpPr/>
          <p:nvPr/>
        </p:nvSpPr>
        <p:spPr>
          <a:xfrm>
            <a:off x="936612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To Do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70;p15"/>
          <p:cNvSpPr/>
          <p:nvPr/>
        </p:nvSpPr>
        <p:spPr>
          <a:xfrm>
            <a:off x="1239588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Doing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71;p15"/>
          <p:cNvSpPr/>
          <p:nvPr/>
        </p:nvSpPr>
        <p:spPr>
          <a:xfrm>
            <a:off x="1553256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Review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72;p15"/>
          <p:cNvSpPr/>
          <p:nvPr/>
        </p:nvSpPr>
        <p:spPr>
          <a:xfrm>
            <a:off x="1866888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Done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73;p15"/>
          <p:cNvSpPr/>
          <p:nvPr/>
        </p:nvSpPr>
        <p:spPr>
          <a:xfrm>
            <a:off x="16740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Backlog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74;p15"/>
          <p:cNvSpPr/>
          <p:nvPr/>
        </p:nvSpPr>
        <p:spPr>
          <a:xfrm>
            <a:off x="3197160" y="13856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66565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75;p15"/>
          <p:cNvSpPr/>
          <p:nvPr/>
        </p:nvSpPr>
        <p:spPr>
          <a:xfrm>
            <a:off x="3197160" y="29613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67196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76;p15"/>
          <p:cNvSpPr/>
          <p:nvPr/>
        </p:nvSpPr>
        <p:spPr>
          <a:xfrm>
            <a:off x="3197160" y="45374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67215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Google Shape;77;p15"/>
          <p:cNvSpPr/>
          <p:nvPr/>
        </p:nvSpPr>
        <p:spPr>
          <a:xfrm>
            <a:off x="3197160" y="61131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PT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68509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Google Shape;78;p15"/>
          <p:cNvSpPr/>
          <p:nvPr/>
        </p:nvSpPr>
        <p:spPr>
          <a:xfrm>
            <a:off x="3197160" y="7689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68663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Google Shape;79;p15"/>
          <p:cNvSpPr/>
          <p:nvPr/>
        </p:nvSpPr>
        <p:spPr>
          <a:xfrm>
            <a:off x="3197160" y="92649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70116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1" name="Google Shape;80;p15"/>
          <p:cNvCxnSpPr/>
          <p:nvPr/>
        </p:nvCxnSpPr>
        <p:spPr>
          <a:xfrm>
            <a:off x="5607720" y="16257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182" name="Google Shape;81;p15"/>
          <p:cNvCxnSpPr/>
          <p:nvPr/>
        </p:nvCxnSpPr>
        <p:spPr>
          <a:xfrm>
            <a:off x="5607720" y="32018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183" name="Google Shape;82;p15"/>
          <p:cNvCxnSpPr/>
          <p:nvPr/>
        </p:nvCxnSpPr>
        <p:spPr>
          <a:xfrm>
            <a:off x="5607720" y="47775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184" name="Google Shape;83;p15"/>
          <p:cNvCxnSpPr/>
          <p:nvPr/>
        </p:nvCxnSpPr>
        <p:spPr>
          <a:xfrm>
            <a:off x="5607720" y="63536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185" name="Google Shape;84;p15"/>
          <p:cNvCxnSpPr/>
          <p:nvPr/>
        </p:nvCxnSpPr>
        <p:spPr>
          <a:xfrm>
            <a:off x="5607720" y="79293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186" name="Google Shape;85;p15"/>
          <p:cNvCxnSpPr/>
          <p:nvPr/>
        </p:nvCxnSpPr>
        <p:spPr>
          <a:xfrm>
            <a:off x="5607720" y="95054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sp>
        <p:nvSpPr>
          <p:cNvPr id="187" name="Google Shape;86;p15"/>
          <p:cNvSpPr/>
          <p:nvPr/>
        </p:nvSpPr>
        <p:spPr>
          <a:xfrm>
            <a:off x="167400" y="801720"/>
            <a:ext cx="2410560" cy="2640240"/>
          </a:xfrm>
          <a:prstGeom prst="roundRect">
            <a:avLst>
              <a:gd name="adj" fmla="val 16667"/>
            </a:avLst>
          </a:prstGeom>
          <a:solidFill>
            <a:srgbClr val="ffab40"/>
          </a:solidFill>
          <a:ln>
            <a:solidFill>
              <a:srgbClr val="6f4a1c"/>
            </a:solidFill>
            <a:round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Consolas"/>
                <a:ea typeface="Consolas"/>
              </a:rPr>
              <a:t>Code Smells report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8" name="Google Shape;91;p15"/>
          <p:cNvCxnSpPr/>
          <p:nvPr/>
        </p:nvCxnSpPr>
        <p:spPr>
          <a:xfrm>
            <a:off x="2874240" y="-28440"/>
            <a:ext cx="360" cy="10857240"/>
          </a:xfrm>
          <a:prstGeom prst="straightConnector1">
            <a:avLst/>
          </a:prstGeom>
          <a:ln w="38100">
            <a:solidFill>
              <a:srgbClr val="5b0f00"/>
            </a:solidFill>
            <a:round/>
          </a:ln>
        </p:spPr>
      </p:cxnSp>
      <p:sp>
        <p:nvSpPr>
          <p:cNvPr id="189" name="Google Shape;92;p15"/>
          <p:cNvSpPr/>
          <p:nvPr/>
        </p:nvSpPr>
        <p:spPr>
          <a:xfrm>
            <a:off x="167400" y="3894840"/>
            <a:ext cx="2436840" cy="2640240"/>
          </a:xfrm>
          <a:prstGeom prst="roundRect">
            <a:avLst>
              <a:gd name="adj" fmla="val 16667"/>
            </a:avLst>
          </a:prstGeom>
          <a:solidFill>
            <a:srgbClr val="ffab40"/>
          </a:solidFill>
          <a:ln>
            <a:solidFill>
              <a:srgbClr val="6f4a1c"/>
            </a:solidFill>
            <a:round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Consolas"/>
                <a:ea typeface="Consolas"/>
              </a:rPr>
              <a:t>Use case diagram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87;p15"/>
          <p:cNvSpPr/>
          <p:nvPr/>
        </p:nvSpPr>
        <p:spPr>
          <a:xfrm>
            <a:off x="29520" y="1385640"/>
            <a:ext cx="1875600" cy="22928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Explore codebase 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87;p15"/>
          <p:cNvSpPr/>
          <p:nvPr/>
        </p:nvSpPr>
        <p:spPr>
          <a:xfrm>
            <a:off x="984600" y="1480680"/>
            <a:ext cx="1875600" cy="22928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Recognize present code smells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2" name="Google Shape;66;p15"/>
          <p:cNvCxnSpPr/>
          <p:nvPr/>
        </p:nvCxnSpPr>
        <p:spPr>
          <a:xfrm>
            <a:off x="5944680" y="-31320"/>
            <a:ext cx="360" cy="10856880"/>
          </a:xfrm>
          <a:prstGeom prst="straightConnector1">
            <a:avLst/>
          </a:prstGeom>
          <a:ln w="38100">
            <a:solidFill>
              <a:srgbClr val="5b0f00"/>
            </a:solidFill>
            <a:round/>
          </a:ln>
        </p:spPr>
      </p:cxnSp>
      <p:sp>
        <p:nvSpPr>
          <p:cNvPr id="193" name="Google Shape;67;p15"/>
          <p:cNvSpPr/>
          <p:nvPr/>
        </p:nvSpPr>
        <p:spPr>
          <a:xfrm>
            <a:off x="319716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ID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68;p15"/>
          <p:cNvSpPr/>
          <p:nvPr/>
        </p:nvSpPr>
        <p:spPr>
          <a:xfrm>
            <a:off x="628164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Story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69;p15"/>
          <p:cNvSpPr/>
          <p:nvPr/>
        </p:nvSpPr>
        <p:spPr>
          <a:xfrm>
            <a:off x="936612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To Do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Google Shape;70;p15"/>
          <p:cNvSpPr/>
          <p:nvPr/>
        </p:nvSpPr>
        <p:spPr>
          <a:xfrm>
            <a:off x="1239588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Doing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Google Shape;71;p15"/>
          <p:cNvSpPr/>
          <p:nvPr/>
        </p:nvSpPr>
        <p:spPr>
          <a:xfrm>
            <a:off x="1553256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Review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Google Shape;72;p15"/>
          <p:cNvSpPr/>
          <p:nvPr/>
        </p:nvSpPr>
        <p:spPr>
          <a:xfrm>
            <a:off x="1866888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Done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Google Shape;73;p15"/>
          <p:cNvSpPr/>
          <p:nvPr/>
        </p:nvSpPr>
        <p:spPr>
          <a:xfrm>
            <a:off x="16740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Backlog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74;p15"/>
          <p:cNvSpPr/>
          <p:nvPr/>
        </p:nvSpPr>
        <p:spPr>
          <a:xfrm>
            <a:off x="3197160" y="13856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66565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75;p15"/>
          <p:cNvSpPr/>
          <p:nvPr/>
        </p:nvSpPr>
        <p:spPr>
          <a:xfrm>
            <a:off x="3197160" y="29613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67196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Google Shape;76;p15"/>
          <p:cNvSpPr/>
          <p:nvPr/>
        </p:nvSpPr>
        <p:spPr>
          <a:xfrm>
            <a:off x="3197160" y="45374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67215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77;p15"/>
          <p:cNvSpPr/>
          <p:nvPr/>
        </p:nvSpPr>
        <p:spPr>
          <a:xfrm>
            <a:off x="3197160" y="61131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PT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68509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Google Shape;78;p15"/>
          <p:cNvSpPr/>
          <p:nvPr/>
        </p:nvSpPr>
        <p:spPr>
          <a:xfrm>
            <a:off x="3197160" y="7689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68663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79;p15"/>
          <p:cNvSpPr/>
          <p:nvPr/>
        </p:nvSpPr>
        <p:spPr>
          <a:xfrm>
            <a:off x="3197160" y="92649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70116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6" name="Google Shape;80;p15"/>
          <p:cNvCxnSpPr/>
          <p:nvPr/>
        </p:nvCxnSpPr>
        <p:spPr>
          <a:xfrm>
            <a:off x="5607720" y="16257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207" name="Google Shape;81;p15"/>
          <p:cNvCxnSpPr/>
          <p:nvPr/>
        </p:nvCxnSpPr>
        <p:spPr>
          <a:xfrm>
            <a:off x="5607720" y="32018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208" name="Google Shape;82;p15"/>
          <p:cNvCxnSpPr/>
          <p:nvPr/>
        </p:nvCxnSpPr>
        <p:spPr>
          <a:xfrm>
            <a:off x="5607720" y="47775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209" name="Google Shape;83;p15"/>
          <p:cNvCxnSpPr/>
          <p:nvPr/>
        </p:nvCxnSpPr>
        <p:spPr>
          <a:xfrm>
            <a:off x="5607720" y="63536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210" name="Google Shape;84;p15"/>
          <p:cNvCxnSpPr/>
          <p:nvPr/>
        </p:nvCxnSpPr>
        <p:spPr>
          <a:xfrm>
            <a:off x="5607720" y="79293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211" name="Google Shape;85;p15"/>
          <p:cNvCxnSpPr/>
          <p:nvPr/>
        </p:nvCxnSpPr>
        <p:spPr>
          <a:xfrm>
            <a:off x="5607720" y="95054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sp>
        <p:nvSpPr>
          <p:cNvPr id="212" name="Google Shape;86;p15"/>
          <p:cNvSpPr/>
          <p:nvPr/>
        </p:nvSpPr>
        <p:spPr>
          <a:xfrm>
            <a:off x="6235200" y="1330920"/>
            <a:ext cx="2410560" cy="4076640"/>
          </a:xfrm>
          <a:prstGeom prst="roundRect">
            <a:avLst>
              <a:gd name="adj" fmla="val 16667"/>
            </a:avLst>
          </a:prstGeom>
          <a:solidFill>
            <a:srgbClr val="ffab40"/>
          </a:solidFill>
          <a:ln>
            <a:solidFill>
              <a:srgbClr val="6f4a1c"/>
            </a:solidFill>
            <a:round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Consolas"/>
                <a:ea typeface="Consolas"/>
              </a:rPr>
              <a:t>Code Smells report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3" name="Google Shape;91;p15"/>
          <p:cNvCxnSpPr/>
          <p:nvPr/>
        </p:nvCxnSpPr>
        <p:spPr>
          <a:xfrm>
            <a:off x="2874240" y="-28440"/>
            <a:ext cx="360" cy="10857240"/>
          </a:xfrm>
          <a:prstGeom prst="straightConnector1">
            <a:avLst/>
          </a:prstGeom>
          <a:ln w="38100">
            <a:solidFill>
              <a:srgbClr val="5b0f00"/>
            </a:solidFill>
            <a:round/>
          </a:ln>
        </p:spPr>
      </p:cxnSp>
      <p:sp>
        <p:nvSpPr>
          <p:cNvPr id="214" name="Google Shape;92;p15"/>
          <p:cNvSpPr/>
          <p:nvPr/>
        </p:nvSpPr>
        <p:spPr>
          <a:xfrm>
            <a:off x="6240960" y="6022080"/>
            <a:ext cx="2436840" cy="4176720"/>
          </a:xfrm>
          <a:prstGeom prst="roundRect">
            <a:avLst>
              <a:gd name="adj" fmla="val 16667"/>
            </a:avLst>
          </a:prstGeom>
          <a:solidFill>
            <a:srgbClr val="ffab40"/>
          </a:solidFill>
          <a:ln>
            <a:solidFill>
              <a:srgbClr val="6f4a1c"/>
            </a:solidFill>
            <a:round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Consolas"/>
                <a:ea typeface="Consolas"/>
              </a:rPr>
              <a:t>Use case diagram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Google Shape;87;p15"/>
          <p:cNvSpPr/>
          <p:nvPr/>
        </p:nvSpPr>
        <p:spPr>
          <a:xfrm>
            <a:off x="12691080" y="719640"/>
            <a:ext cx="1875600" cy="22928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Explore codebase 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Google Shape;87;p15"/>
          <p:cNvSpPr/>
          <p:nvPr/>
        </p:nvSpPr>
        <p:spPr>
          <a:xfrm>
            <a:off x="9609840" y="680040"/>
            <a:ext cx="1875600" cy="22928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Recognize present code smells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Google Shape;87;p15"/>
          <p:cNvSpPr/>
          <p:nvPr/>
        </p:nvSpPr>
        <p:spPr>
          <a:xfrm>
            <a:off x="12691080" y="2122200"/>
            <a:ext cx="1875600" cy="22928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Explore codebase 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87;p15"/>
          <p:cNvSpPr/>
          <p:nvPr/>
        </p:nvSpPr>
        <p:spPr>
          <a:xfrm>
            <a:off x="12691080" y="3372120"/>
            <a:ext cx="1875600" cy="22928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Explore codebase 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87;p15"/>
          <p:cNvSpPr/>
          <p:nvPr/>
        </p:nvSpPr>
        <p:spPr>
          <a:xfrm>
            <a:off x="12691080" y="5006160"/>
            <a:ext cx="1875600" cy="22928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Explore codebase 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Google Shape;87;p15"/>
          <p:cNvSpPr/>
          <p:nvPr/>
        </p:nvSpPr>
        <p:spPr>
          <a:xfrm>
            <a:off x="12663360" y="6631920"/>
            <a:ext cx="1875600" cy="22928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Explore codebase 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Google Shape;87;p15"/>
          <p:cNvSpPr/>
          <p:nvPr/>
        </p:nvSpPr>
        <p:spPr>
          <a:xfrm>
            <a:off x="12663360" y="8276400"/>
            <a:ext cx="1875600" cy="22928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Explore codebase 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87;p15"/>
          <p:cNvSpPr/>
          <p:nvPr/>
        </p:nvSpPr>
        <p:spPr>
          <a:xfrm>
            <a:off x="9609840" y="2283120"/>
            <a:ext cx="1875600" cy="22928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Recognize present code smells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Google Shape;87;p15"/>
          <p:cNvSpPr/>
          <p:nvPr/>
        </p:nvSpPr>
        <p:spPr>
          <a:xfrm>
            <a:off x="9609840" y="3782160"/>
            <a:ext cx="1875600" cy="22928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Recognize present code smells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Google Shape;87;p15"/>
          <p:cNvSpPr/>
          <p:nvPr/>
        </p:nvSpPr>
        <p:spPr>
          <a:xfrm>
            <a:off x="9621000" y="5207040"/>
            <a:ext cx="1875600" cy="22928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Recognize present code smells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Google Shape;87;p15"/>
          <p:cNvSpPr/>
          <p:nvPr/>
        </p:nvSpPr>
        <p:spPr>
          <a:xfrm>
            <a:off x="9609840" y="6725520"/>
            <a:ext cx="1875600" cy="22928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Recognize present code smells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87;p15"/>
          <p:cNvSpPr/>
          <p:nvPr/>
        </p:nvSpPr>
        <p:spPr>
          <a:xfrm>
            <a:off x="9582120" y="8301600"/>
            <a:ext cx="1875600" cy="22928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Recognize present code smells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7" name="Google Shape;66;p15"/>
          <p:cNvCxnSpPr/>
          <p:nvPr/>
        </p:nvCxnSpPr>
        <p:spPr>
          <a:xfrm>
            <a:off x="5944680" y="-31320"/>
            <a:ext cx="360" cy="10856880"/>
          </a:xfrm>
          <a:prstGeom prst="straightConnector1">
            <a:avLst/>
          </a:prstGeom>
          <a:ln w="38100">
            <a:solidFill>
              <a:srgbClr val="5b0f00"/>
            </a:solidFill>
            <a:round/>
          </a:ln>
        </p:spPr>
      </p:cxnSp>
      <p:sp>
        <p:nvSpPr>
          <p:cNvPr id="228" name="Google Shape;67;p15"/>
          <p:cNvSpPr/>
          <p:nvPr/>
        </p:nvSpPr>
        <p:spPr>
          <a:xfrm>
            <a:off x="319716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ID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68;p15"/>
          <p:cNvSpPr/>
          <p:nvPr/>
        </p:nvSpPr>
        <p:spPr>
          <a:xfrm>
            <a:off x="628164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Story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Google Shape;69;p15"/>
          <p:cNvSpPr/>
          <p:nvPr/>
        </p:nvSpPr>
        <p:spPr>
          <a:xfrm>
            <a:off x="936612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To Do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Google Shape;70;p15"/>
          <p:cNvSpPr/>
          <p:nvPr/>
        </p:nvSpPr>
        <p:spPr>
          <a:xfrm>
            <a:off x="1239588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Doing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Google Shape;71;p15"/>
          <p:cNvSpPr/>
          <p:nvPr/>
        </p:nvSpPr>
        <p:spPr>
          <a:xfrm>
            <a:off x="1553256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Review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Google Shape;72;p15"/>
          <p:cNvSpPr/>
          <p:nvPr/>
        </p:nvSpPr>
        <p:spPr>
          <a:xfrm>
            <a:off x="1866888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Done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Google Shape;73;p15"/>
          <p:cNvSpPr/>
          <p:nvPr/>
        </p:nvSpPr>
        <p:spPr>
          <a:xfrm>
            <a:off x="16740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Backlog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Google Shape;74;p15"/>
          <p:cNvSpPr/>
          <p:nvPr/>
        </p:nvSpPr>
        <p:spPr>
          <a:xfrm>
            <a:off x="3197160" y="13856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66565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Google Shape;75;p15"/>
          <p:cNvSpPr/>
          <p:nvPr/>
        </p:nvSpPr>
        <p:spPr>
          <a:xfrm>
            <a:off x="3197160" y="29613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67196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Google Shape;76;p15"/>
          <p:cNvSpPr/>
          <p:nvPr/>
        </p:nvSpPr>
        <p:spPr>
          <a:xfrm>
            <a:off x="3197160" y="45374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67215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Google Shape;77;p15"/>
          <p:cNvSpPr/>
          <p:nvPr/>
        </p:nvSpPr>
        <p:spPr>
          <a:xfrm>
            <a:off x="3197160" y="61131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PT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68509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Google Shape;78;p15"/>
          <p:cNvSpPr/>
          <p:nvPr/>
        </p:nvSpPr>
        <p:spPr>
          <a:xfrm>
            <a:off x="3197160" y="7689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68663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79;p15"/>
          <p:cNvSpPr/>
          <p:nvPr/>
        </p:nvSpPr>
        <p:spPr>
          <a:xfrm>
            <a:off x="3197160" y="92649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70116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1" name="Google Shape;80;p15"/>
          <p:cNvCxnSpPr/>
          <p:nvPr/>
        </p:nvCxnSpPr>
        <p:spPr>
          <a:xfrm>
            <a:off x="5607720" y="16257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242" name="Google Shape;81;p15"/>
          <p:cNvCxnSpPr/>
          <p:nvPr/>
        </p:nvCxnSpPr>
        <p:spPr>
          <a:xfrm>
            <a:off x="5607720" y="32018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243" name="Google Shape;82;p15"/>
          <p:cNvCxnSpPr/>
          <p:nvPr/>
        </p:nvCxnSpPr>
        <p:spPr>
          <a:xfrm>
            <a:off x="5607720" y="47775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244" name="Google Shape;83;p15"/>
          <p:cNvCxnSpPr/>
          <p:nvPr/>
        </p:nvCxnSpPr>
        <p:spPr>
          <a:xfrm>
            <a:off x="5607720" y="63536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245" name="Google Shape;84;p15"/>
          <p:cNvCxnSpPr/>
          <p:nvPr/>
        </p:nvCxnSpPr>
        <p:spPr>
          <a:xfrm>
            <a:off x="5607720" y="79293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246" name="Google Shape;85;p15"/>
          <p:cNvCxnSpPr/>
          <p:nvPr/>
        </p:nvCxnSpPr>
        <p:spPr>
          <a:xfrm>
            <a:off x="5607720" y="95054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sp>
        <p:nvSpPr>
          <p:cNvPr id="247" name="Google Shape;86;p15"/>
          <p:cNvSpPr/>
          <p:nvPr/>
        </p:nvSpPr>
        <p:spPr>
          <a:xfrm>
            <a:off x="6235200" y="1330920"/>
            <a:ext cx="2410560" cy="4076640"/>
          </a:xfrm>
          <a:prstGeom prst="roundRect">
            <a:avLst>
              <a:gd name="adj" fmla="val 16667"/>
            </a:avLst>
          </a:prstGeom>
          <a:solidFill>
            <a:srgbClr val="ffab40"/>
          </a:solidFill>
          <a:ln>
            <a:solidFill>
              <a:srgbClr val="6f4a1c"/>
            </a:solidFill>
            <a:round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Consolas"/>
                <a:ea typeface="Consolas"/>
              </a:rPr>
              <a:t>Code Smells report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8" name="Google Shape;91;p15"/>
          <p:cNvCxnSpPr/>
          <p:nvPr/>
        </p:nvCxnSpPr>
        <p:spPr>
          <a:xfrm>
            <a:off x="2874240" y="-28440"/>
            <a:ext cx="360" cy="10857240"/>
          </a:xfrm>
          <a:prstGeom prst="straightConnector1">
            <a:avLst/>
          </a:prstGeom>
          <a:ln w="38100">
            <a:solidFill>
              <a:srgbClr val="5b0f00"/>
            </a:solidFill>
            <a:round/>
          </a:ln>
        </p:spPr>
      </p:cxnSp>
      <p:sp>
        <p:nvSpPr>
          <p:cNvPr id="249" name="Google Shape;92;p15"/>
          <p:cNvSpPr/>
          <p:nvPr/>
        </p:nvSpPr>
        <p:spPr>
          <a:xfrm>
            <a:off x="6240960" y="6022080"/>
            <a:ext cx="2436840" cy="4176720"/>
          </a:xfrm>
          <a:prstGeom prst="roundRect">
            <a:avLst>
              <a:gd name="adj" fmla="val 16667"/>
            </a:avLst>
          </a:prstGeom>
          <a:solidFill>
            <a:srgbClr val="ffab40"/>
          </a:solidFill>
          <a:ln>
            <a:solidFill>
              <a:srgbClr val="6f4a1c"/>
            </a:solidFill>
            <a:round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Consolas"/>
                <a:ea typeface="Consolas"/>
              </a:rPr>
              <a:t>Use case diagram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87;p15"/>
          <p:cNvSpPr/>
          <p:nvPr/>
        </p:nvSpPr>
        <p:spPr>
          <a:xfrm>
            <a:off x="19018800" y="680040"/>
            <a:ext cx="1875600" cy="22928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Explore codebase 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Google Shape;87;p15"/>
          <p:cNvSpPr/>
          <p:nvPr/>
        </p:nvSpPr>
        <p:spPr>
          <a:xfrm>
            <a:off x="12657600" y="737640"/>
            <a:ext cx="1875600" cy="22928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Recognize present code smells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87;p15"/>
          <p:cNvSpPr/>
          <p:nvPr/>
        </p:nvSpPr>
        <p:spPr>
          <a:xfrm>
            <a:off x="19018800" y="2082600"/>
            <a:ext cx="1875600" cy="22928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Explore codebase 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87;p15"/>
          <p:cNvSpPr/>
          <p:nvPr/>
        </p:nvSpPr>
        <p:spPr>
          <a:xfrm>
            <a:off x="19018800" y="3332160"/>
            <a:ext cx="1875600" cy="22928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Explore codebase 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Google Shape;87;p15"/>
          <p:cNvSpPr/>
          <p:nvPr/>
        </p:nvSpPr>
        <p:spPr>
          <a:xfrm>
            <a:off x="19018800" y="4966560"/>
            <a:ext cx="1875600" cy="22928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Explore codebase 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Google Shape;87;p15"/>
          <p:cNvSpPr/>
          <p:nvPr/>
        </p:nvSpPr>
        <p:spPr>
          <a:xfrm>
            <a:off x="18991080" y="6592320"/>
            <a:ext cx="1875600" cy="22928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Explore codebase 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87;p15"/>
          <p:cNvSpPr/>
          <p:nvPr/>
        </p:nvSpPr>
        <p:spPr>
          <a:xfrm>
            <a:off x="18991080" y="8236440"/>
            <a:ext cx="1875600" cy="22928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Explore codebase 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Google Shape;87;p15"/>
          <p:cNvSpPr/>
          <p:nvPr/>
        </p:nvSpPr>
        <p:spPr>
          <a:xfrm>
            <a:off x="12657600" y="2340720"/>
            <a:ext cx="1875600" cy="22928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Recognize present code smells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87;p15"/>
          <p:cNvSpPr/>
          <p:nvPr/>
        </p:nvSpPr>
        <p:spPr>
          <a:xfrm>
            <a:off x="12657600" y="3839760"/>
            <a:ext cx="1875600" cy="22928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Recognize present code smells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87;p15"/>
          <p:cNvSpPr/>
          <p:nvPr/>
        </p:nvSpPr>
        <p:spPr>
          <a:xfrm>
            <a:off x="12668400" y="5264640"/>
            <a:ext cx="1875600" cy="22928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Recognize present code smells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87;p15"/>
          <p:cNvSpPr/>
          <p:nvPr/>
        </p:nvSpPr>
        <p:spPr>
          <a:xfrm>
            <a:off x="12657600" y="6783120"/>
            <a:ext cx="1875600" cy="22928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Recognize present code smells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87;p15"/>
          <p:cNvSpPr/>
          <p:nvPr/>
        </p:nvSpPr>
        <p:spPr>
          <a:xfrm>
            <a:off x="12629880" y="8358840"/>
            <a:ext cx="1875600" cy="22928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Recognize present code smells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21;p 1" descr=""/>
          <p:cNvPicPr/>
          <p:nvPr/>
        </p:nvPicPr>
        <p:blipFill>
          <a:blip r:embed="rId1">
            <a:alphaModFix amt="51000"/>
          </a:blip>
          <a:stretch/>
        </p:blipFill>
        <p:spPr>
          <a:xfrm>
            <a:off x="0" y="0"/>
            <a:ext cx="21599640" cy="1079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Google Shape;222;p 1"/>
          <p:cNvSpPr txBox="1"/>
          <p:nvPr/>
        </p:nvSpPr>
        <p:spPr>
          <a:xfrm>
            <a:off x="814320" y="3300840"/>
            <a:ext cx="19957320" cy="4198320"/>
          </a:xfrm>
          <a:prstGeom prst="rect">
            <a:avLst/>
          </a:prstGeom>
        </p:spPr>
        <p:txBody>
          <a:bodyPr wrap="none" lIns="147240" rIns="147240" tIns="102240" bIns="102240" anchor="ctr" anchorCtr="1">
            <a:prstTxWarp prst="textPlain">
              <a:avLst>
                <a:gd name="adj" fmla="val 50000"/>
              </a:avLst>
            </a:prstTxWarp>
            <a:noAutofit/>
          </a:bodyPr>
          <a:p>
            <a:pPr algn="ctr">
              <a:lnSpc>
                <a:spcPct val="100000"/>
              </a:lnSpc>
            </a:pPr>
            <a:r>
              <a:rPr b="1" lang="pt-PT" sz="1400" strike="noStrike" u="none">
                <a:ln w="114480">
                  <a:solidFill>
                    <a:srgbClr val="434343"/>
                  </a:solidFill>
                  <a:round/>
                </a:ln>
                <a:solidFill>
                  <a:schemeClr val="lt1"/>
                </a:solidFill>
                <a:uFillTx/>
                <a:latin typeface="Consolas"/>
                <a:ea typeface="Arial"/>
              </a:rPr>
              <a:t>Sprint 3</a:t>
            </a:r>
            <a:endParaRPr b="0" lang="pt-PT" sz="1400" strike="noStrike" u="none">
              <a:ln w="114480">
                <a:solidFill>
                  <a:srgbClr val="434343"/>
                </a:solidFill>
                <a:round/>
              </a:ln>
              <a:solidFill>
                <a:schemeClr val="lt1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4" name="Google Shape;66;p 1"/>
          <p:cNvCxnSpPr/>
          <p:nvPr/>
        </p:nvCxnSpPr>
        <p:spPr>
          <a:xfrm>
            <a:off x="5944680" y="-31320"/>
            <a:ext cx="360" cy="10856880"/>
          </a:xfrm>
          <a:prstGeom prst="straightConnector1">
            <a:avLst/>
          </a:prstGeom>
          <a:ln w="38100">
            <a:solidFill>
              <a:srgbClr val="5b0f00"/>
            </a:solidFill>
            <a:round/>
          </a:ln>
        </p:spPr>
      </p:cxnSp>
      <p:sp>
        <p:nvSpPr>
          <p:cNvPr id="265" name="Google Shape;67;p 1"/>
          <p:cNvSpPr/>
          <p:nvPr/>
        </p:nvSpPr>
        <p:spPr>
          <a:xfrm>
            <a:off x="319716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Student ID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68;p 1"/>
          <p:cNvSpPr/>
          <p:nvPr/>
        </p:nvSpPr>
        <p:spPr>
          <a:xfrm>
            <a:off x="628164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Story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69;p 1"/>
          <p:cNvSpPr/>
          <p:nvPr/>
        </p:nvSpPr>
        <p:spPr>
          <a:xfrm>
            <a:off x="936612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To Do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70;p 1"/>
          <p:cNvSpPr/>
          <p:nvPr/>
        </p:nvSpPr>
        <p:spPr>
          <a:xfrm>
            <a:off x="1239588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Doing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Google Shape;71;p 1"/>
          <p:cNvSpPr/>
          <p:nvPr/>
        </p:nvSpPr>
        <p:spPr>
          <a:xfrm>
            <a:off x="1553256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Review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Google Shape;72;p 1"/>
          <p:cNvSpPr/>
          <p:nvPr/>
        </p:nvSpPr>
        <p:spPr>
          <a:xfrm>
            <a:off x="1866888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Done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73;p 1"/>
          <p:cNvSpPr/>
          <p:nvPr/>
        </p:nvSpPr>
        <p:spPr>
          <a:xfrm>
            <a:off x="167400" y="84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>
            <a:solidFill>
              <a:srgbClr val="b45f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Backlog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Google Shape;74;p 1"/>
          <p:cNvSpPr/>
          <p:nvPr/>
        </p:nvSpPr>
        <p:spPr>
          <a:xfrm>
            <a:off x="3197160" y="13856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66565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Google Shape;75;p 1"/>
          <p:cNvSpPr/>
          <p:nvPr/>
        </p:nvSpPr>
        <p:spPr>
          <a:xfrm>
            <a:off x="3197160" y="29613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67196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Google Shape;76;p 1"/>
          <p:cNvSpPr/>
          <p:nvPr/>
        </p:nvSpPr>
        <p:spPr>
          <a:xfrm>
            <a:off x="3197160" y="45374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67215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77;p 1"/>
          <p:cNvSpPr/>
          <p:nvPr/>
        </p:nvSpPr>
        <p:spPr>
          <a:xfrm>
            <a:off x="3197160" y="61131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PT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68509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Google Shape;78;p 1"/>
          <p:cNvSpPr/>
          <p:nvPr/>
        </p:nvSpPr>
        <p:spPr>
          <a:xfrm>
            <a:off x="3197160" y="768924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68663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Google Shape;79;p 1"/>
          <p:cNvSpPr/>
          <p:nvPr/>
        </p:nvSpPr>
        <p:spPr>
          <a:xfrm>
            <a:off x="3197160" y="9264960"/>
            <a:ext cx="2410560" cy="4806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>
            <a:solidFill>
              <a:srgbClr val="5b0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70116</a:t>
            </a:r>
            <a:endParaRPr b="0" lang="pt-P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8" name="Google Shape;80;p 1"/>
          <p:cNvCxnSpPr/>
          <p:nvPr/>
        </p:nvCxnSpPr>
        <p:spPr>
          <a:xfrm>
            <a:off x="5607720" y="16257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279" name="Google Shape;81;p 1"/>
          <p:cNvCxnSpPr/>
          <p:nvPr/>
        </p:nvCxnSpPr>
        <p:spPr>
          <a:xfrm>
            <a:off x="5607720" y="32018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280" name="Google Shape;82;p 1"/>
          <p:cNvCxnSpPr/>
          <p:nvPr/>
        </p:nvCxnSpPr>
        <p:spPr>
          <a:xfrm>
            <a:off x="5607720" y="47775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281" name="Google Shape;83;p 1"/>
          <p:cNvCxnSpPr/>
          <p:nvPr/>
        </p:nvCxnSpPr>
        <p:spPr>
          <a:xfrm>
            <a:off x="5607720" y="63536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282" name="Google Shape;84;p 1"/>
          <p:cNvCxnSpPr/>
          <p:nvPr/>
        </p:nvCxnSpPr>
        <p:spPr>
          <a:xfrm>
            <a:off x="5607720" y="792936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cxnSp>
        <p:nvCxnSpPr>
          <p:cNvPr id="283" name="Google Shape;85;p 1"/>
          <p:cNvCxnSpPr/>
          <p:nvPr/>
        </p:nvCxnSpPr>
        <p:spPr>
          <a:xfrm>
            <a:off x="5607720" y="9505440"/>
            <a:ext cx="16042680" cy="360"/>
          </a:xfrm>
          <a:prstGeom prst="straightConnector1">
            <a:avLst/>
          </a:prstGeom>
          <a:ln w="28575">
            <a:solidFill>
              <a:srgbClr val="999999"/>
            </a:solidFill>
            <a:prstDash val="dash"/>
            <a:round/>
          </a:ln>
        </p:spPr>
      </p:cxnSp>
      <p:sp>
        <p:nvSpPr>
          <p:cNvPr id="284" name="Google Shape;86;p 1"/>
          <p:cNvSpPr/>
          <p:nvPr/>
        </p:nvSpPr>
        <p:spPr>
          <a:xfrm>
            <a:off x="6235200" y="970920"/>
            <a:ext cx="2410560" cy="8929080"/>
          </a:xfrm>
          <a:prstGeom prst="roundRect">
            <a:avLst>
              <a:gd name="adj" fmla="val 16667"/>
            </a:avLst>
          </a:prstGeom>
          <a:solidFill>
            <a:srgbClr val="ffab40"/>
          </a:solidFill>
          <a:ln>
            <a:solidFill>
              <a:srgbClr val="6f4a1c"/>
            </a:solidFill>
            <a:round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chemeClr val="lt1"/>
                </a:solidFill>
                <a:effectLst/>
                <a:uFillTx/>
                <a:latin typeface="Consolas"/>
                <a:ea typeface="Consolas"/>
              </a:rPr>
              <a:t>Code Smells and design patterns report.</a:t>
            </a:r>
            <a:endParaRPr b="0" lang="pt-PT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chemeClr val="lt1"/>
                </a:solidFill>
                <a:effectLst/>
                <a:uFillTx/>
                <a:latin typeface="Consolas"/>
                <a:ea typeface="Consolas"/>
              </a:rPr>
              <a:t>Use case diagram</a:t>
            </a:r>
            <a:endParaRPr b="0" lang="pt-PT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5" name="Google Shape;91;p 1"/>
          <p:cNvCxnSpPr/>
          <p:nvPr/>
        </p:nvCxnSpPr>
        <p:spPr>
          <a:xfrm>
            <a:off x="2874240" y="-28440"/>
            <a:ext cx="360" cy="10857240"/>
          </a:xfrm>
          <a:prstGeom prst="straightConnector1">
            <a:avLst/>
          </a:prstGeom>
          <a:ln w="38100">
            <a:solidFill>
              <a:srgbClr val="5b0f00"/>
            </a:solidFill>
            <a:round/>
          </a:ln>
        </p:spPr>
      </p:cxnSp>
      <p:sp>
        <p:nvSpPr>
          <p:cNvPr id="286" name="Google Shape;87;p 1"/>
          <p:cNvSpPr/>
          <p:nvPr/>
        </p:nvSpPr>
        <p:spPr>
          <a:xfrm>
            <a:off x="18838800" y="1220040"/>
            <a:ext cx="1141200" cy="75996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Explore codebase 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Google Shape;87;p 12"/>
          <p:cNvSpPr/>
          <p:nvPr/>
        </p:nvSpPr>
        <p:spPr>
          <a:xfrm>
            <a:off x="12600000" y="9075960"/>
            <a:ext cx="1875600" cy="172116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Recognize present code smells, Design patterns and create Use case diagram.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Google Shape;87;p 3"/>
          <p:cNvSpPr/>
          <p:nvPr/>
        </p:nvSpPr>
        <p:spPr>
          <a:xfrm>
            <a:off x="18900000" y="2840040"/>
            <a:ext cx="1141200" cy="75996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Explore codebase 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Google Shape;87;p 4"/>
          <p:cNvSpPr/>
          <p:nvPr/>
        </p:nvSpPr>
        <p:spPr>
          <a:xfrm>
            <a:off x="18838800" y="4280040"/>
            <a:ext cx="1141200" cy="75996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Explore codebase 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Google Shape;87;p 6"/>
          <p:cNvSpPr/>
          <p:nvPr/>
        </p:nvSpPr>
        <p:spPr>
          <a:xfrm>
            <a:off x="18838800" y="5940000"/>
            <a:ext cx="1141200" cy="75996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Explore codebase 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Google Shape;87;p 7"/>
          <p:cNvSpPr/>
          <p:nvPr/>
        </p:nvSpPr>
        <p:spPr>
          <a:xfrm>
            <a:off x="18838800" y="7520040"/>
            <a:ext cx="1141200" cy="75996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Explore codebase 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Google Shape;87;p 14"/>
          <p:cNvSpPr/>
          <p:nvPr/>
        </p:nvSpPr>
        <p:spPr>
          <a:xfrm>
            <a:off x="18838800" y="9140040"/>
            <a:ext cx="1141200" cy="75996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Explore codebase 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Google Shape;87;p 15"/>
          <p:cNvSpPr/>
          <p:nvPr/>
        </p:nvSpPr>
        <p:spPr>
          <a:xfrm>
            <a:off x="12600360" y="7200000"/>
            <a:ext cx="1875600" cy="172116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Recognize present code smells, Design patterns and create Use case diagram.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Google Shape;87;p 11"/>
          <p:cNvSpPr/>
          <p:nvPr/>
        </p:nvSpPr>
        <p:spPr>
          <a:xfrm>
            <a:off x="12657600" y="5478840"/>
            <a:ext cx="1875600" cy="172116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Recognize present code smells, Design patterns and create Use case diagram.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Google Shape;87;p 2"/>
          <p:cNvSpPr/>
          <p:nvPr/>
        </p:nvSpPr>
        <p:spPr>
          <a:xfrm>
            <a:off x="12704400" y="3780000"/>
            <a:ext cx="1875600" cy="172116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Recognize present code smells, Design patterns and create Use case diagram.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Google Shape;87;p 8"/>
          <p:cNvSpPr/>
          <p:nvPr/>
        </p:nvSpPr>
        <p:spPr>
          <a:xfrm>
            <a:off x="12704400" y="2238840"/>
            <a:ext cx="1875600" cy="172116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Recognize present code smells, Design patterns and create Use case diagram.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Google Shape;87;p 9"/>
          <p:cNvSpPr/>
          <p:nvPr/>
        </p:nvSpPr>
        <p:spPr>
          <a:xfrm>
            <a:off x="12600000" y="618840"/>
            <a:ext cx="1875600" cy="172116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Recognize present code smells, Design patterns and create Use case diagram.</a:t>
            </a:r>
            <a:endParaRPr b="0" lang="pt-P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</TotalTime>
  <Application>LibreOffice/25.2.6.2$Linux_X86_64 LibreOffice_project/40d1a0e1d5bdf1afaeae24d9ece32bbb00fa66a4</Application>
  <AppVersion>15.0000</AppVersion>
  <Words>457</Words>
  <Paragraphs>165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pt-PT</dc:language>
  <cp:lastModifiedBy/>
  <dcterms:modified xsi:type="dcterms:W3CDTF">2025-11-04T13:51:37Z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Personalizados</vt:lpwstr>
  </property>
  <property fmtid="{D5CDD505-2E9C-101B-9397-08002B2CF9AE}" pid="4" name="Slides">
    <vt:i4>11</vt:i4>
  </property>
</Properties>
</file>