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12.xml" ContentType="application/vnd.openxmlformats-officedocument.theme+xml"/>
  <Override PartName="/ppt/slideLayouts/_rels/slideLayout9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media/image1.png" ContentType="image/png"/>
  <Override PartName="/ppt/media/image2.png" ContentType="image/png"/>
  <Override PartName="/ppt/slides/_rels/slide21.xml.rels" ContentType="application/vnd.openxmlformats-package.relationships+xml"/>
  <Override PartName="/ppt/slides/_rels/slide19.xml.rels" ContentType="application/vnd.openxmlformats-package.relationships+xml"/>
  <Override PartName="/ppt/slides/_rels/slide4.xml.rels" ContentType="application/vnd.openxmlformats-package.relationships+xml"/>
  <Override PartName="/ppt/slides/_rels/slide20.xml.rels" ContentType="application/vnd.openxmlformats-package.relationships+xml"/>
  <Override PartName="/ppt/slides/_rels/slide18.xml.rels" ContentType="application/vnd.openxmlformats-package.relationships+xml"/>
  <Override PartName="/ppt/slides/_rels/slide3.xml.rels" ContentType="application/vnd.openxmlformats-package.relationships+xml"/>
  <Override PartName="/ppt/slides/_rels/slide17.xml.rels" ContentType="application/vnd.openxmlformats-package.relationships+xml"/>
  <Override PartName="/ppt/slides/_rels/slide2.xml.rels" ContentType="application/vnd.openxmlformats-package.relationships+xml"/>
  <Override PartName="/ppt/slides/_rels/slide16.xml.rels" ContentType="application/vnd.openxmlformats-package.relationships+xml"/>
  <Override PartName="/ppt/slides/_rels/slide1.xml.rels" ContentType="application/vnd.openxmlformats-package.relationships+xml"/>
  <Override PartName="/ppt/slides/_rels/slide14.xml.rels" ContentType="application/vnd.openxmlformats-package.relationships+xml"/>
  <Override PartName="/ppt/slides/_rels/slide26.xml.rels" ContentType="application/vnd.openxmlformats-package.relationships+xml"/>
  <Override PartName="/ppt/slides/_rels/slide15.xml.rels" ContentType="application/vnd.openxmlformats-package.relationships+xml"/>
  <Override PartName="/ppt/slides/_rels/slide27.xml.rels" ContentType="application/vnd.openxmlformats-package.relationships+xml"/>
  <Override PartName="/ppt/slides/_rels/slide13.xml.rels" ContentType="application/vnd.openxmlformats-package.relationships+xml"/>
  <Override PartName="/ppt/slides/_rels/slide25.xml.rels" ContentType="application/vnd.openxmlformats-package.relationships+xml"/>
  <Override PartName="/ppt/slides/_rels/slide12.xml.rels" ContentType="application/vnd.openxmlformats-package.relationships+xml"/>
  <Override PartName="/ppt/slides/_rels/slide24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23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22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25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24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23.xml" ContentType="application/vnd.openxmlformats-officedocument.presentationml.slide+xml"/>
  <Override PartName="/ppt/slides/slide6.xml" ContentType="application/vnd.openxmlformats-officedocument.presentationml.slide+xml"/>
  <Override PartName="/ppt/slides/slide22.xml" ContentType="application/vnd.openxmlformats-officedocument.presentationml.slide+xml"/>
  <Override PartName="/ppt/slides/slide27.xml" ContentType="application/vnd.openxmlformats-officedocument.presentationml.slide+xml"/>
  <Override PartName="/ppt/slides/slide26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7.xml" ContentType="application/vnd.openxmlformats-officedocument.presentationml.slide+xml"/>
  <Override PartName="/ppt/slides/slide3.xml" ContentType="application/vnd.openxmlformats-officedocument.presentationml.slide+xml"/>
  <Override PartName="/ppt/slides/slide18.xml" ContentType="application/vnd.openxmlformats-officedocument.presentationml.slide+xml"/>
  <Override PartName="/ppt/slides/slide2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1.xml" ContentType="application/vnd.openxmlformats-officedocument.presentationml.slide+xml"/>
  <Override PartName="/ppt/notesSlides/_rels/notesSlide27.xml.rels" ContentType="application/vnd.openxmlformats-package.relationships+xml"/>
  <Override PartName="/ppt/notesSlides/_rels/notesSlide25.xml.rels" ContentType="application/vnd.openxmlformats-package.relationships+xml"/>
  <Override PartName="/ppt/notesSlides/notesSlide25.xml" ContentType="application/vnd.openxmlformats-officedocument.presentationml.notesSlide+xml"/>
  <Override PartName="/ppt/notesSlides/notesSlide27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</p:sldIdLst>
  <p:sldSz cx="21599525" cy="10799763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1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pt-PT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Clique para mover o diapositivo</a:t>
            </a:r>
            <a:endParaRPr b="0" lang="pt-PT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pt-PT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das notas</a:t>
            </a:r>
            <a:endParaRPr b="0" lang="pt-PT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&lt;cabeçalho&gt;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 type="dt" idx="12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pt-PT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&lt;data/hora&gt;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 type="ftr" idx="13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pt-PT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6"/>
          <p:cNvSpPr>
            <a:spLocks noGrp="1"/>
          </p:cNvSpPr>
          <p:nvPr>
            <p:ph type="sldNum" idx="14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pt-PT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81240988-2CA6-4480-AE83-8FDA055ECAF5}" type="slidenum"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&lt;número&gt;</a:t>
            </a:fld>
            <a:endParaRPr b="0" lang="pt-PT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_rels/notesSlide27.xml.rels><?xml version="1.0" encoding="UTF-8"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
</Relationship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8" name="PlaceHolder 1"/>
          <p:cNvSpPr>
            <a:spLocks noGrp="1"/>
          </p:cNvSpPr>
          <p:nvPr>
            <p:ph type="sldImg"/>
          </p:nvPr>
        </p:nvSpPr>
        <p:spPr>
          <a:xfrm>
            <a:off x="171360" y="1336680"/>
            <a:ext cx="7216200" cy="3607560"/>
          </a:xfrm>
          <a:prstGeom prst="rect">
            <a:avLst/>
          </a:prstGeom>
          <a:ln w="0">
            <a:noFill/>
          </a:ln>
        </p:spPr>
      </p:sp>
      <p:sp>
        <p:nvSpPr>
          <p:cNvPr id="699" name="PlaceHolder 2"/>
          <p:cNvSpPr>
            <a:spLocks noGrp="1"/>
          </p:cNvSpPr>
          <p:nvPr>
            <p:ph type="body"/>
          </p:nvPr>
        </p:nvSpPr>
        <p:spPr>
          <a:xfrm>
            <a:off x="755640" y="5145120"/>
            <a:ext cx="6047640" cy="4209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0" name="PlaceHolder 3"/>
          <p:cNvSpPr>
            <a:spLocks noGrp="1"/>
          </p:cNvSpPr>
          <p:nvPr>
            <p:ph type="sldNum" idx="15"/>
          </p:nvPr>
        </p:nvSpPr>
        <p:spPr>
          <a:xfrm>
            <a:off x="4281480" y="10155240"/>
            <a:ext cx="3276000" cy="53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pt-PT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1F92146-5668-4826-804A-FF1B80473F76}" type="slidenum">
              <a:rPr b="0" lang="pt-PT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&lt;número&gt;</a:t>
            </a:fld>
            <a:endParaRPr b="0" lang="pt-PT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1" name="PlaceHolder 1"/>
          <p:cNvSpPr>
            <a:spLocks noGrp="1"/>
          </p:cNvSpPr>
          <p:nvPr>
            <p:ph type="sldImg"/>
          </p:nvPr>
        </p:nvSpPr>
        <p:spPr>
          <a:xfrm>
            <a:off x="171360" y="1336680"/>
            <a:ext cx="7216200" cy="3607560"/>
          </a:xfrm>
          <a:prstGeom prst="rect">
            <a:avLst/>
          </a:prstGeom>
          <a:ln w="0">
            <a:noFill/>
          </a:ln>
        </p:spPr>
      </p:sp>
      <p:sp>
        <p:nvSpPr>
          <p:cNvPr id="702" name="PlaceHolder 2"/>
          <p:cNvSpPr>
            <a:spLocks noGrp="1"/>
          </p:cNvSpPr>
          <p:nvPr>
            <p:ph type="body"/>
          </p:nvPr>
        </p:nvSpPr>
        <p:spPr>
          <a:xfrm>
            <a:off x="755640" y="5145120"/>
            <a:ext cx="6047640" cy="4209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3" name="PlaceHolder 3"/>
          <p:cNvSpPr>
            <a:spLocks noGrp="1"/>
          </p:cNvSpPr>
          <p:nvPr>
            <p:ph type="sldNum" idx="16"/>
          </p:nvPr>
        </p:nvSpPr>
        <p:spPr>
          <a:xfrm>
            <a:off x="4281480" y="10155240"/>
            <a:ext cx="3276000" cy="535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pt-PT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421F659-1CA6-47E8-A6BF-7BBF879A9010}" type="slidenum">
              <a:rPr b="0" lang="pt-PT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&lt;número&gt;</a:t>
            </a:fld>
            <a:endParaRPr b="0" lang="pt-PT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736200" y="1563480"/>
            <a:ext cx="20125800" cy="4308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rm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PT" sz="5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pt-PT" sz="5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1"/>
          </p:nvPr>
        </p:nvSpPr>
        <p:spPr>
          <a:xfrm>
            <a:off x="20013840" y="9791640"/>
            <a:ext cx="1294200" cy="825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GB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FC89ED2-E471-465E-B419-A1259002708C}" type="slidenum">
              <a:rPr b="0" lang="en-GB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pt-PT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body"/>
          </p:nvPr>
        </p:nvSpPr>
        <p:spPr>
          <a:xfrm>
            <a:off x="1079640" y="2526840"/>
            <a:ext cx="19437840" cy="6261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pt-PT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pt-PT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pt-PT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IG_NUMB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736200" y="2322720"/>
            <a:ext cx="20125800" cy="4121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rm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PT" sz="12000" strike="noStrike" u="non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xx%</a:t>
            </a:r>
            <a:endParaRPr b="0" lang="pt-PT" sz="1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body"/>
          </p:nvPr>
        </p:nvSpPr>
        <p:spPr>
          <a:xfrm>
            <a:off x="736200" y="6618960"/>
            <a:ext cx="20125800" cy="2729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3"/>
          <p:cNvSpPr>
            <a:spLocks noGrp="1"/>
          </p:cNvSpPr>
          <p:nvPr>
            <p:ph type="sldNum" idx="2"/>
          </p:nvPr>
        </p:nvSpPr>
        <p:spPr>
          <a:xfrm>
            <a:off x="20013840" y="9791640"/>
            <a:ext cx="1294200" cy="825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GB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5CDBA1B-5589-4181-A7BA-B4F52A9E943B}" type="slidenum">
              <a:rPr b="0" lang="en-GB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pt-PT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sldNum" idx="3"/>
          </p:nvPr>
        </p:nvSpPr>
        <p:spPr>
          <a:xfrm>
            <a:off x="20013840" y="9791640"/>
            <a:ext cx="1294200" cy="825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GB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5C236B1-08CD-4E68-A436-D715C053AFF3}" type="slidenum">
              <a:rPr b="0" lang="en-GB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pt-PT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_AND_TWO_COLUMN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736200" y="934560"/>
            <a:ext cx="20125800" cy="1200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PT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pt-PT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736200" y="2419920"/>
            <a:ext cx="9446760" cy="7171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body"/>
          </p:nvPr>
        </p:nvSpPr>
        <p:spPr>
          <a:xfrm>
            <a:off x="11415240" y="2419920"/>
            <a:ext cx="9446760" cy="7171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sldNum" idx="4"/>
          </p:nvPr>
        </p:nvSpPr>
        <p:spPr>
          <a:xfrm>
            <a:off x="20013840" y="9791640"/>
            <a:ext cx="1294200" cy="825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GB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023B707-848B-423E-BFB2-FA0007AB65CF}" type="slidenum">
              <a:rPr b="0" lang="en-GB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pt-PT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_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736200" y="4516200"/>
            <a:ext cx="20125800" cy="1765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PT" sz="36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pt-PT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sldNum" idx="5"/>
          </p:nvPr>
        </p:nvSpPr>
        <p:spPr>
          <a:xfrm>
            <a:off x="20013840" y="9791640"/>
            <a:ext cx="1294200" cy="825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GB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A8FDCB5-7F0B-44E1-8924-FD420BB2E65D}" type="slidenum">
              <a:rPr b="0" lang="en-GB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pt-PT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_AND_BOD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736200" y="934560"/>
            <a:ext cx="20125800" cy="1200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PT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pt-PT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 type="body"/>
          </p:nvPr>
        </p:nvSpPr>
        <p:spPr>
          <a:xfrm>
            <a:off x="736200" y="2419920"/>
            <a:ext cx="20125800" cy="7171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3"/>
          <p:cNvSpPr>
            <a:spLocks noGrp="1"/>
          </p:cNvSpPr>
          <p:nvPr>
            <p:ph type="sldNum" idx="6"/>
          </p:nvPr>
        </p:nvSpPr>
        <p:spPr>
          <a:xfrm>
            <a:off x="20013840" y="9791640"/>
            <a:ext cx="1294200" cy="825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GB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FE04518-C800-423C-9C34-041D8E85832C}" type="slidenum">
              <a:rPr b="0" lang="en-GB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pt-PT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_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736200" y="934560"/>
            <a:ext cx="20125800" cy="1200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PT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pt-PT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sldNum" idx="7"/>
          </p:nvPr>
        </p:nvSpPr>
        <p:spPr>
          <a:xfrm>
            <a:off x="20013840" y="9791640"/>
            <a:ext cx="1294200" cy="825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GB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8EC2DF9-B42D-4525-BF94-AC28123AFDF3}" type="slidenum">
              <a:rPr b="0" lang="en-GB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pt-PT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ONE_COLUMN_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736200" y="1166760"/>
            <a:ext cx="6631200" cy="1585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rm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PT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pt-PT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736200" y="2917800"/>
            <a:ext cx="6631200" cy="6674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pt-PT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pt-PT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pt-PT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pt-PT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pt-PT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pt-PT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pt-PT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 type="sldNum" idx="8"/>
          </p:nvPr>
        </p:nvSpPr>
        <p:spPr>
          <a:xfrm>
            <a:off x="20013840" y="9791640"/>
            <a:ext cx="1294200" cy="825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GB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01F852C-8AA1-46A1-A657-873BE1C9A420}" type="slidenum">
              <a:rPr b="0" lang="en-GB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pt-PT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IN_POI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1158120" y="945360"/>
            <a:ext cx="15040080" cy="8587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PT" sz="4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pt-PT" sz="4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sldNum" idx="9"/>
          </p:nvPr>
        </p:nvSpPr>
        <p:spPr>
          <a:xfrm>
            <a:off x="20013840" y="9791640"/>
            <a:ext cx="1294200" cy="825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GB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D3A2F37-23C1-4411-B0E6-7BFEAC31DBCD}" type="slidenum">
              <a:rPr b="0" lang="en-GB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pt-PT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_TITLE_AND_DESCRI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36;p9"/>
          <p:cNvSpPr/>
          <p:nvPr/>
        </p:nvSpPr>
        <p:spPr>
          <a:xfrm>
            <a:off x="10800000" y="-360"/>
            <a:ext cx="10798200" cy="1079820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627120" y="2589480"/>
            <a:ext cx="9554040" cy="3111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rm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PT" sz="4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pt-PT" sz="4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 type="body"/>
          </p:nvPr>
        </p:nvSpPr>
        <p:spPr>
          <a:xfrm>
            <a:off x="11667960" y="1520280"/>
            <a:ext cx="9062280" cy="7757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 type="sldNum" idx="10"/>
          </p:nvPr>
        </p:nvSpPr>
        <p:spPr>
          <a:xfrm>
            <a:off x="20013840" y="9791640"/>
            <a:ext cx="1294200" cy="825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GB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9063CFF-ED13-46F5-A683-D3B6E0539D98}" type="slidenum">
              <a:rPr b="0" lang="en-GB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pt-PT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APTION_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body"/>
          </p:nvPr>
        </p:nvSpPr>
        <p:spPr>
          <a:xfrm>
            <a:off x="736200" y="8883000"/>
            <a:ext cx="14168880" cy="1268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 fontScale="40000" lnSpcReduction="19999"/>
          </a:bodyPr>
          <a:p>
            <a:pPr marL="432000" indent="-324000" defTabSz="9144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 defTabSz="9144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 defTabSz="9144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 defTabSz="9144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 defTabSz="9144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 type="sldNum" idx="11"/>
          </p:nvPr>
        </p:nvSpPr>
        <p:spPr>
          <a:xfrm>
            <a:off x="20013840" y="9791640"/>
            <a:ext cx="1294200" cy="825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GB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5005D12-C20E-4D7D-BAEA-CE6E5F530438}" type="slidenum">
              <a:rPr b="0" lang="en-GB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pt-PT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7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Google Shape;54;p13" descr=""/>
          <p:cNvPicPr/>
          <p:nvPr/>
        </p:nvPicPr>
        <p:blipFill>
          <a:blip r:embed="rId1">
            <a:alphaModFix amt="51000"/>
          </a:blip>
          <a:stretch/>
        </p:blipFill>
        <p:spPr>
          <a:xfrm>
            <a:off x="0" y="0"/>
            <a:ext cx="21598200" cy="10798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6" name="Google Shape;55;p13" descr=""/>
          <p:cNvPicPr/>
          <p:nvPr/>
        </p:nvPicPr>
        <p:blipFill>
          <a:blip r:embed="rId2"/>
          <a:stretch/>
        </p:blipFill>
        <p:spPr>
          <a:xfrm>
            <a:off x="859680" y="4015080"/>
            <a:ext cx="19878480" cy="27680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Google Shape;60;p14" descr=""/>
          <p:cNvPicPr/>
          <p:nvPr/>
        </p:nvPicPr>
        <p:blipFill>
          <a:blip r:embed="rId1">
            <a:alphaModFix amt="51000"/>
          </a:blip>
          <a:stretch/>
        </p:blipFill>
        <p:spPr>
          <a:xfrm>
            <a:off x="0" y="0"/>
            <a:ext cx="21598200" cy="10798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" name="Google Shape;61;p14"/>
          <p:cNvSpPr txBox="1"/>
          <p:nvPr/>
        </p:nvSpPr>
        <p:spPr>
          <a:xfrm>
            <a:off x="814320" y="3300840"/>
            <a:ext cx="19969560" cy="4196880"/>
          </a:xfrm>
          <a:prstGeom prst="rect">
            <a:avLst/>
          </a:prstGeom>
        </p:spPr>
        <p:txBody>
          <a:bodyPr wrap="none" lIns="376200" rIns="376200" tIns="102240" bIns="102240" anchor="ctr" anchorCtr="1">
            <a:prstTxWarp prst="textPlain">
              <a:avLst>
                <a:gd name="adj" fmla="val 50000"/>
              </a:avLst>
            </a:prstTxWarp>
            <a:noAutofit/>
          </a:bodyPr>
          <a:p>
            <a:pPr algn="ctr" defTabSz="914400">
              <a:lnSpc>
                <a:spcPct val="100000"/>
              </a:lnSpc>
            </a:pPr>
            <a:r>
              <a:rPr b="1" lang="pt-PT" sz="1400" strike="noStrike" u="none">
                <a:ln w="114480">
                  <a:solidFill>
                    <a:srgbClr val="434343"/>
                  </a:solidFill>
                  <a:round/>
                </a:ln>
                <a:solidFill>
                  <a:schemeClr val="lt1"/>
                </a:solidFill>
                <a:uFillTx/>
                <a:latin typeface="Consolas"/>
                <a:ea typeface="Arial"/>
              </a:rPr>
              <a:t>Sprint 1</a:t>
            </a:r>
            <a:endParaRPr b="0" lang="pt-PT" sz="1400" strike="noStrike" u="none">
              <a:ln w="114480">
                <a:solidFill>
                  <a:srgbClr val="434343"/>
                </a:solidFill>
                <a:round/>
              </a:ln>
              <a:solidFill>
                <a:schemeClr val="lt1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9" name="Google Shape;66;p15"/>
          <p:cNvCxnSpPr/>
          <p:nvPr/>
        </p:nvCxnSpPr>
        <p:spPr>
          <a:xfrm>
            <a:off x="5944680" y="-31320"/>
            <a:ext cx="1800" cy="1085832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40" name="Google Shape;67;p15"/>
          <p:cNvSpPr/>
          <p:nvPr/>
        </p:nvSpPr>
        <p:spPr>
          <a:xfrm>
            <a:off x="3197160" y="842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Google Shape;68;p15"/>
          <p:cNvSpPr/>
          <p:nvPr/>
        </p:nvSpPr>
        <p:spPr>
          <a:xfrm>
            <a:off x="6281640" y="842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Google Shape;69;p15"/>
          <p:cNvSpPr/>
          <p:nvPr/>
        </p:nvSpPr>
        <p:spPr>
          <a:xfrm>
            <a:off x="9366120" y="842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Google Shape;70;p15"/>
          <p:cNvSpPr/>
          <p:nvPr/>
        </p:nvSpPr>
        <p:spPr>
          <a:xfrm>
            <a:off x="12395880" y="842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Google Shape;71;p15"/>
          <p:cNvSpPr/>
          <p:nvPr/>
        </p:nvSpPr>
        <p:spPr>
          <a:xfrm>
            <a:off x="15532560" y="842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Google Shape;72;p15"/>
          <p:cNvSpPr/>
          <p:nvPr/>
        </p:nvSpPr>
        <p:spPr>
          <a:xfrm>
            <a:off x="18668880" y="842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Google Shape;73;p15"/>
          <p:cNvSpPr/>
          <p:nvPr/>
        </p:nvSpPr>
        <p:spPr>
          <a:xfrm>
            <a:off x="167400" y="842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Google Shape;74;p15"/>
          <p:cNvSpPr/>
          <p:nvPr/>
        </p:nvSpPr>
        <p:spPr>
          <a:xfrm>
            <a:off x="3197160" y="13856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66565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Google Shape;75;p15"/>
          <p:cNvSpPr/>
          <p:nvPr/>
        </p:nvSpPr>
        <p:spPr>
          <a:xfrm>
            <a:off x="3197160" y="296136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67196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Google Shape;76;p15"/>
          <p:cNvSpPr/>
          <p:nvPr/>
        </p:nvSpPr>
        <p:spPr>
          <a:xfrm>
            <a:off x="3197160" y="45374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67215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Google Shape;77;p15"/>
          <p:cNvSpPr/>
          <p:nvPr/>
        </p:nvSpPr>
        <p:spPr>
          <a:xfrm>
            <a:off x="3197160" y="611316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PT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68509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Google Shape;78;p15"/>
          <p:cNvSpPr/>
          <p:nvPr/>
        </p:nvSpPr>
        <p:spPr>
          <a:xfrm>
            <a:off x="3197160" y="76892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68663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Google Shape;79;p15"/>
          <p:cNvSpPr/>
          <p:nvPr/>
        </p:nvSpPr>
        <p:spPr>
          <a:xfrm>
            <a:off x="3197160" y="926496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70116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3" name="Google Shape;80;p15"/>
          <p:cNvCxnSpPr/>
          <p:nvPr/>
        </p:nvCxnSpPr>
        <p:spPr>
          <a:xfrm>
            <a:off x="5607720" y="1625760"/>
            <a:ext cx="16044120" cy="180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4" name="Google Shape;81;p15"/>
          <p:cNvCxnSpPr/>
          <p:nvPr/>
        </p:nvCxnSpPr>
        <p:spPr>
          <a:xfrm>
            <a:off x="5607720" y="3201840"/>
            <a:ext cx="16044120" cy="180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5" name="Google Shape;82;p15"/>
          <p:cNvCxnSpPr/>
          <p:nvPr/>
        </p:nvCxnSpPr>
        <p:spPr>
          <a:xfrm>
            <a:off x="5607720" y="4777560"/>
            <a:ext cx="16044120" cy="180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6" name="Google Shape;83;p15"/>
          <p:cNvCxnSpPr/>
          <p:nvPr/>
        </p:nvCxnSpPr>
        <p:spPr>
          <a:xfrm>
            <a:off x="5607720" y="6353640"/>
            <a:ext cx="16044120" cy="180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7" name="Google Shape;84;p15"/>
          <p:cNvCxnSpPr/>
          <p:nvPr/>
        </p:nvCxnSpPr>
        <p:spPr>
          <a:xfrm>
            <a:off x="5607720" y="7929360"/>
            <a:ext cx="16044120" cy="180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8" name="Google Shape;85;p15"/>
          <p:cNvCxnSpPr/>
          <p:nvPr/>
        </p:nvCxnSpPr>
        <p:spPr>
          <a:xfrm>
            <a:off x="5607720" y="9505440"/>
            <a:ext cx="16044120" cy="180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59" name="Google Shape;86;p15"/>
          <p:cNvSpPr/>
          <p:nvPr/>
        </p:nvSpPr>
        <p:spPr>
          <a:xfrm>
            <a:off x="167400" y="801720"/>
            <a:ext cx="2409120" cy="26388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As a Mindustry player, I want to upgrade machines with efficiency levels, so that I can create more resources per time unit in case of drills and other resource generators, and have better defences in case of weapons.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Google Shape;87;p15"/>
          <p:cNvSpPr/>
          <p:nvPr/>
        </p:nvSpPr>
        <p:spPr>
          <a:xfrm>
            <a:off x="141120" y="7302600"/>
            <a:ext cx="2435400" cy="27748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US3: 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As a veteran player, I want to orchestrate a new defensive strategy by pulling enemy air units to the ground, so that I can play the game in a more creative way.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1" name="Google Shape;91;p15"/>
          <p:cNvCxnSpPr/>
          <p:nvPr/>
        </p:nvCxnSpPr>
        <p:spPr>
          <a:xfrm>
            <a:off x="2874240" y="-28440"/>
            <a:ext cx="1800" cy="1085868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62" name="Google Shape;92;p15"/>
          <p:cNvSpPr/>
          <p:nvPr/>
        </p:nvSpPr>
        <p:spPr>
          <a:xfrm>
            <a:off x="167400" y="3894840"/>
            <a:ext cx="2435400" cy="29412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US2: 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As a player that likes to keep track of everything, I want to receive a text warning everytime I misplace a conveyor for whatever reason and obtain possible fixes, so that I can have everything under my watch and build solid structures quickly.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3" name="Google Shape;97;p16"/>
          <p:cNvCxnSpPr/>
          <p:nvPr/>
        </p:nvCxnSpPr>
        <p:spPr>
          <a:xfrm>
            <a:off x="5944680" y="-31320"/>
            <a:ext cx="1800" cy="1085832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64" name="Google Shape;98;p16"/>
          <p:cNvSpPr/>
          <p:nvPr/>
        </p:nvSpPr>
        <p:spPr>
          <a:xfrm>
            <a:off x="3197160" y="842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Google Shape;99;p16"/>
          <p:cNvSpPr/>
          <p:nvPr/>
        </p:nvSpPr>
        <p:spPr>
          <a:xfrm>
            <a:off x="6281640" y="842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Google Shape;100;p16"/>
          <p:cNvSpPr/>
          <p:nvPr/>
        </p:nvSpPr>
        <p:spPr>
          <a:xfrm>
            <a:off x="9366120" y="842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Google Shape;101;p16"/>
          <p:cNvSpPr/>
          <p:nvPr/>
        </p:nvSpPr>
        <p:spPr>
          <a:xfrm>
            <a:off x="12395880" y="842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Google Shape;102;p16"/>
          <p:cNvSpPr/>
          <p:nvPr/>
        </p:nvSpPr>
        <p:spPr>
          <a:xfrm>
            <a:off x="15532560" y="842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Google Shape;103;p16"/>
          <p:cNvSpPr/>
          <p:nvPr/>
        </p:nvSpPr>
        <p:spPr>
          <a:xfrm>
            <a:off x="18668880" y="842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Google Shape;104;p16"/>
          <p:cNvSpPr/>
          <p:nvPr/>
        </p:nvSpPr>
        <p:spPr>
          <a:xfrm>
            <a:off x="167400" y="842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Google Shape;105;p16"/>
          <p:cNvSpPr/>
          <p:nvPr/>
        </p:nvSpPr>
        <p:spPr>
          <a:xfrm>
            <a:off x="3197160" y="13856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#1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Google Shape;106;p16"/>
          <p:cNvSpPr/>
          <p:nvPr/>
        </p:nvSpPr>
        <p:spPr>
          <a:xfrm>
            <a:off x="3197160" y="296136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#2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Google Shape;107;p16"/>
          <p:cNvSpPr/>
          <p:nvPr/>
        </p:nvSpPr>
        <p:spPr>
          <a:xfrm>
            <a:off x="3197160" y="45374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Google Shape;108;p16"/>
          <p:cNvSpPr/>
          <p:nvPr/>
        </p:nvSpPr>
        <p:spPr>
          <a:xfrm>
            <a:off x="3197160" y="611316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#4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Google Shape;109;p16"/>
          <p:cNvSpPr/>
          <p:nvPr/>
        </p:nvSpPr>
        <p:spPr>
          <a:xfrm>
            <a:off x="3197160" y="76892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Google Shape;110;p16"/>
          <p:cNvSpPr/>
          <p:nvPr/>
        </p:nvSpPr>
        <p:spPr>
          <a:xfrm>
            <a:off x="3197160" y="926496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7" name="Google Shape;111;p16"/>
          <p:cNvCxnSpPr/>
          <p:nvPr/>
        </p:nvCxnSpPr>
        <p:spPr>
          <a:xfrm>
            <a:off x="5607720" y="1625760"/>
            <a:ext cx="16044120" cy="180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78" name="Google Shape;112;p16"/>
          <p:cNvCxnSpPr/>
          <p:nvPr/>
        </p:nvCxnSpPr>
        <p:spPr>
          <a:xfrm>
            <a:off x="5607720" y="3201840"/>
            <a:ext cx="16044120" cy="180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79" name="Google Shape;113;p16"/>
          <p:cNvCxnSpPr/>
          <p:nvPr/>
        </p:nvCxnSpPr>
        <p:spPr>
          <a:xfrm>
            <a:off x="5607720" y="4777560"/>
            <a:ext cx="16044120" cy="180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80" name="Google Shape;114;p16"/>
          <p:cNvCxnSpPr/>
          <p:nvPr/>
        </p:nvCxnSpPr>
        <p:spPr>
          <a:xfrm>
            <a:off x="5607720" y="6353640"/>
            <a:ext cx="16044120" cy="180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81" name="Google Shape;115;p16"/>
          <p:cNvCxnSpPr/>
          <p:nvPr/>
        </p:nvCxnSpPr>
        <p:spPr>
          <a:xfrm>
            <a:off x="5607720" y="7929360"/>
            <a:ext cx="16044120" cy="180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82" name="Google Shape;116;p16"/>
          <p:cNvCxnSpPr/>
          <p:nvPr/>
        </p:nvCxnSpPr>
        <p:spPr>
          <a:xfrm>
            <a:off x="5607720" y="9505440"/>
            <a:ext cx="16044120" cy="180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83" name="Google Shape;117;p16"/>
          <p:cNvSpPr/>
          <p:nvPr/>
        </p:nvSpPr>
        <p:spPr>
          <a:xfrm>
            <a:off x="167400" y="801720"/>
            <a:ext cx="2409120" cy="16466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[...]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Google Shape;118;p16"/>
          <p:cNvSpPr/>
          <p:nvPr/>
        </p:nvSpPr>
        <p:spPr>
          <a:xfrm>
            <a:off x="6281640" y="801720"/>
            <a:ext cx="2409120" cy="16466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[...]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Google Shape;119;p16"/>
          <p:cNvSpPr/>
          <p:nvPr/>
        </p:nvSpPr>
        <p:spPr>
          <a:xfrm>
            <a:off x="12395520" y="801720"/>
            <a:ext cx="2409120" cy="16466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T1: [...]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Google Shape;120;p16"/>
          <p:cNvSpPr/>
          <p:nvPr/>
        </p:nvSpPr>
        <p:spPr>
          <a:xfrm>
            <a:off x="6281640" y="4042800"/>
            <a:ext cx="2409120" cy="164664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>
            <a:solidFill>
              <a:srgbClr val="134f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[...]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Google Shape;121;p16"/>
          <p:cNvSpPr/>
          <p:nvPr/>
        </p:nvSpPr>
        <p:spPr>
          <a:xfrm>
            <a:off x="15426000" y="3953520"/>
            <a:ext cx="2409120" cy="164664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>
            <a:solidFill>
              <a:srgbClr val="134f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T2: [...]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8" name="Google Shape;122;p16"/>
          <p:cNvCxnSpPr/>
          <p:nvPr/>
        </p:nvCxnSpPr>
        <p:spPr>
          <a:xfrm>
            <a:off x="2874240" y="-28440"/>
            <a:ext cx="1800" cy="1085868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89" name="Google Shape;123;p16"/>
          <p:cNvSpPr/>
          <p:nvPr/>
        </p:nvSpPr>
        <p:spPr>
          <a:xfrm>
            <a:off x="140760" y="2687040"/>
            <a:ext cx="2409120" cy="16466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US2: [...]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0" name="Google Shape;128;p17"/>
          <p:cNvCxnSpPr/>
          <p:nvPr/>
        </p:nvCxnSpPr>
        <p:spPr>
          <a:xfrm>
            <a:off x="5944680" y="-31320"/>
            <a:ext cx="1800" cy="1085832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91" name="Google Shape;129;p17"/>
          <p:cNvSpPr/>
          <p:nvPr/>
        </p:nvSpPr>
        <p:spPr>
          <a:xfrm>
            <a:off x="3197160" y="842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Google Shape;130;p17"/>
          <p:cNvSpPr/>
          <p:nvPr/>
        </p:nvSpPr>
        <p:spPr>
          <a:xfrm>
            <a:off x="6281640" y="842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Google Shape;131;p17"/>
          <p:cNvSpPr/>
          <p:nvPr/>
        </p:nvSpPr>
        <p:spPr>
          <a:xfrm>
            <a:off x="9366120" y="842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Google Shape;132;p17"/>
          <p:cNvSpPr/>
          <p:nvPr/>
        </p:nvSpPr>
        <p:spPr>
          <a:xfrm>
            <a:off x="12395880" y="842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Google Shape;133;p17"/>
          <p:cNvSpPr/>
          <p:nvPr/>
        </p:nvSpPr>
        <p:spPr>
          <a:xfrm>
            <a:off x="15532560" y="842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Google Shape;134;p17"/>
          <p:cNvSpPr/>
          <p:nvPr/>
        </p:nvSpPr>
        <p:spPr>
          <a:xfrm>
            <a:off x="18668880" y="842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Google Shape;135;p17"/>
          <p:cNvSpPr/>
          <p:nvPr/>
        </p:nvSpPr>
        <p:spPr>
          <a:xfrm>
            <a:off x="167400" y="842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Google Shape;136;p17"/>
          <p:cNvSpPr/>
          <p:nvPr/>
        </p:nvSpPr>
        <p:spPr>
          <a:xfrm>
            <a:off x="3197160" y="13856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#1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Google Shape;137;p17"/>
          <p:cNvSpPr/>
          <p:nvPr/>
        </p:nvSpPr>
        <p:spPr>
          <a:xfrm>
            <a:off x="3197160" y="296136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#2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Google Shape;138;p17"/>
          <p:cNvSpPr/>
          <p:nvPr/>
        </p:nvSpPr>
        <p:spPr>
          <a:xfrm>
            <a:off x="3197160" y="45374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Google Shape;139;p17"/>
          <p:cNvSpPr/>
          <p:nvPr/>
        </p:nvSpPr>
        <p:spPr>
          <a:xfrm>
            <a:off x="3197160" y="611316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#4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Google Shape;140;p17"/>
          <p:cNvSpPr/>
          <p:nvPr/>
        </p:nvSpPr>
        <p:spPr>
          <a:xfrm>
            <a:off x="3197160" y="76892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Google Shape;141;p17"/>
          <p:cNvSpPr/>
          <p:nvPr/>
        </p:nvSpPr>
        <p:spPr>
          <a:xfrm>
            <a:off x="3197160" y="926496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04" name="Google Shape;142;p17"/>
          <p:cNvCxnSpPr/>
          <p:nvPr/>
        </p:nvCxnSpPr>
        <p:spPr>
          <a:xfrm>
            <a:off x="5607720" y="1625760"/>
            <a:ext cx="16044120" cy="180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05" name="Google Shape;143;p17"/>
          <p:cNvCxnSpPr/>
          <p:nvPr/>
        </p:nvCxnSpPr>
        <p:spPr>
          <a:xfrm>
            <a:off x="5607720" y="3201840"/>
            <a:ext cx="16044120" cy="180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06" name="Google Shape;144;p17"/>
          <p:cNvCxnSpPr/>
          <p:nvPr/>
        </p:nvCxnSpPr>
        <p:spPr>
          <a:xfrm>
            <a:off x="5607720" y="4777560"/>
            <a:ext cx="16044120" cy="180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07" name="Google Shape;145;p17"/>
          <p:cNvCxnSpPr/>
          <p:nvPr/>
        </p:nvCxnSpPr>
        <p:spPr>
          <a:xfrm>
            <a:off x="5607720" y="6353640"/>
            <a:ext cx="16044120" cy="180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08" name="Google Shape;146;p17"/>
          <p:cNvCxnSpPr/>
          <p:nvPr/>
        </p:nvCxnSpPr>
        <p:spPr>
          <a:xfrm>
            <a:off x="5607720" y="7929360"/>
            <a:ext cx="16044120" cy="180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09" name="Google Shape;147;p17"/>
          <p:cNvCxnSpPr/>
          <p:nvPr/>
        </p:nvCxnSpPr>
        <p:spPr>
          <a:xfrm>
            <a:off x="5607720" y="9505440"/>
            <a:ext cx="16044120" cy="180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110" name="Google Shape;148;p17"/>
          <p:cNvSpPr/>
          <p:nvPr/>
        </p:nvSpPr>
        <p:spPr>
          <a:xfrm>
            <a:off x="167400" y="801720"/>
            <a:ext cx="2409120" cy="16466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[...]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Google Shape;149;p17"/>
          <p:cNvSpPr/>
          <p:nvPr/>
        </p:nvSpPr>
        <p:spPr>
          <a:xfrm>
            <a:off x="6281640" y="801720"/>
            <a:ext cx="2409120" cy="16466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[...]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Google Shape;150;p17"/>
          <p:cNvSpPr/>
          <p:nvPr/>
        </p:nvSpPr>
        <p:spPr>
          <a:xfrm>
            <a:off x="15532560" y="801720"/>
            <a:ext cx="2409120" cy="16466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T1: [...]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Google Shape;151;p17"/>
          <p:cNvSpPr/>
          <p:nvPr/>
        </p:nvSpPr>
        <p:spPr>
          <a:xfrm>
            <a:off x="6281640" y="4042800"/>
            <a:ext cx="2409120" cy="164664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>
            <a:solidFill>
              <a:srgbClr val="134f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[...]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Google Shape;152;p17"/>
          <p:cNvSpPr/>
          <p:nvPr/>
        </p:nvSpPr>
        <p:spPr>
          <a:xfrm>
            <a:off x="15426000" y="3953520"/>
            <a:ext cx="2409120" cy="164664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>
            <a:solidFill>
              <a:srgbClr val="134f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T2: [...]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15" name="Google Shape;153;p17"/>
          <p:cNvCxnSpPr/>
          <p:nvPr/>
        </p:nvCxnSpPr>
        <p:spPr>
          <a:xfrm>
            <a:off x="2874240" y="-28440"/>
            <a:ext cx="1800" cy="1085868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116" name="Google Shape;154;p17"/>
          <p:cNvSpPr/>
          <p:nvPr/>
        </p:nvSpPr>
        <p:spPr>
          <a:xfrm>
            <a:off x="140760" y="2687040"/>
            <a:ext cx="2409120" cy="16466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US2: [...]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7" name="Google Shape;159;p18"/>
          <p:cNvCxnSpPr/>
          <p:nvPr/>
        </p:nvCxnSpPr>
        <p:spPr>
          <a:xfrm>
            <a:off x="5944680" y="-31320"/>
            <a:ext cx="1800" cy="1085832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118" name="Google Shape;160;p18"/>
          <p:cNvSpPr/>
          <p:nvPr/>
        </p:nvSpPr>
        <p:spPr>
          <a:xfrm>
            <a:off x="3197160" y="842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Google Shape;161;p18"/>
          <p:cNvSpPr/>
          <p:nvPr/>
        </p:nvSpPr>
        <p:spPr>
          <a:xfrm>
            <a:off x="6281640" y="842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Google Shape;162;p18"/>
          <p:cNvSpPr/>
          <p:nvPr/>
        </p:nvSpPr>
        <p:spPr>
          <a:xfrm>
            <a:off x="9366120" y="842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Google Shape;163;p18"/>
          <p:cNvSpPr/>
          <p:nvPr/>
        </p:nvSpPr>
        <p:spPr>
          <a:xfrm>
            <a:off x="12395880" y="842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Google Shape;164;p18"/>
          <p:cNvSpPr/>
          <p:nvPr/>
        </p:nvSpPr>
        <p:spPr>
          <a:xfrm>
            <a:off x="15532560" y="842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Google Shape;165;p18"/>
          <p:cNvSpPr/>
          <p:nvPr/>
        </p:nvSpPr>
        <p:spPr>
          <a:xfrm>
            <a:off x="18668880" y="842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Google Shape;166;p18"/>
          <p:cNvSpPr/>
          <p:nvPr/>
        </p:nvSpPr>
        <p:spPr>
          <a:xfrm>
            <a:off x="167400" y="842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Google Shape;167;p18"/>
          <p:cNvSpPr/>
          <p:nvPr/>
        </p:nvSpPr>
        <p:spPr>
          <a:xfrm>
            <a:off x="3197160" y="13856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#1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Google Shape;168;p18"/>
          <p:cNvSpPr/>
          <p:nvPr/>
        </p:nvSpPr>
        <p:spPr>
          <a:xfrm>
            <a:off x="3197160" y="296136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#2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Google Shape;169;p18"/>
          <p:cNvSpPr/>
          <p:nvPr/>
        </p:nvSpPr>
        <p:spPr>
          <a:xfrm>
            <a:off x="3197160" y="45374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Google Shape;170;p18"/>
          <p:cNvSpPr/>
          <p:nvPr/>
        </p:nvSpPr>
        <p:spPr>
          <a:xfrm>
            <a:off x="3197160" y="611316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#4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Google Shape;171;p18"/>
          <p:cNvSpPr/>
          <p:nvPr/>
        </p:nvSpPr>
        <p:spPr>
          <a:xfrm>
            <a:off x="3197160" y="76892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Google Shape;172;p18"/>
          <p:cNvSpPr/>
          <p:nvPr/>
        </p:nvSpPr>
        <p:spPr>
          <a:xfrm>
            <a:off x="3197160" y="926496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31" name="Google Shape;173;p18"/>
          <p:cNvCxnSpPr/>
          <p:nvPr/>
        </p:nvCxnSpPr>
        <p:spPr>
          <a:xfrm>
            <a:off x="5607720" y="1625760"/>
            <a:ext cx="16044120" cy="180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32" name="Google Shape;174;p18"/>
          <p:cNvCxnSpPr/>
          <p:nvPr/>
        </p:nvCxnSpPr>
        <p:spPr>
          <a:xfrm>
            <a:off x="5607720" y="3201840"/>
            <a:ext cx="16044120" cy="180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33" name="Google Shape;175;p18"/>
          <p:cNvCxnSpPr/>
          <p:nvPr/>
        </p:nvCxnSpPr>
        <p:spPr>
          <a:xfrm>
            <a:off x="5607720" y="4777560"/>
            <a:ext cx="16044120" cy="180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34" name="Google Shape;176;p18"/>
          <p:cNvCxnSpPr/>
          <p:nvPr/>
        </p:nvCxnSpPr>
        <p:spPr>
          <a:xfrm>
            <a:off x="5607720" y="6353640"/>
            <a:ext cx="16044120" cy="180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35" name="Google Shape;177;p18"/>
          <p:cNvCxnSpPr/>
          <p:nvPr/>
        </p:nvCxnSpPr>
        <p:spPr>
          <a:xfrm>
            <a:off x="5607720" y="7929360"/>
            <a:ext cx="16044120" cy="180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36" name="Google Shape;178;p18"/>
          <p:cNvCxnSpPr/>
          <p:nvPr/>
        </p:nvCxnSpPr>
        <p:spPr>
          <a:xfrm>
            <a:off x="5607720" y="9505440"/>
            <a:ext cx="16044120" cy="180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137" name="Google Shape;179;p18"/>
          <p:cNvSpPr/>
          <p:nvPr/>
        </p:nvSpPr>
        <p:spPr>
          <a:xfrm>
            <a:off x="167400" y="801720"/>
            <a:ext cx="2409120" cy="16466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[...]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Google Shape;180;p18"/>
          <p:cNvSpPr/>
          <p:nvPr/>
        </p:nvSpPr>
        <p:spPr>
          <a:xfrm>
            <a:off x="6281640" y="801720"/>
            <a:ext cx="2409120" cy="16466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[...]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Google Shape;181;p18"/>
          <p:cNvSpPr/>
          <p:nvPr/>
        </p:nvSpPr>
        <p:spPr>
          <a:xfrm>
            <a:off x="15532560" y="801720"/>
            <a:ext cx="2409120" cy="16466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T1: [...]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Google Shape;182;p18"/>
          <p:cNvSpPr/>
          <p:nvPr/>
        </p:nvSpPr>
        <p:spPr>
          <a:xfrm>
            <a:off x="6281640" y="4042800"/>
            <a:ext cx="2409120" cy="164664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>
            <a:solidFill>
              <a:srgbClr val="0c34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[...]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Google Shape;183;p18"/>
          <p:cNvSpPr/>
          <p:nvPr/>
        </p:nvSpPr>
        <p:spPr>
          <a:xfrm>
            <a:off x="12395880" y="3953520"/>
            <a:ext cx="2409120" cy="164664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>
            <a:solidFill>
              <a:srgbClr val="0c34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T2: [...]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42" name="Google Shape;184;p18"/>
          <p:cNvCxnSpPr/>
          <p:nvPr/>
        </p:nvCxnSpPr>
        <p:spPr>
          <a:xfrm>
            <a:off x="2874240" y="-28440"/>
            <a:ext cx="1800" cy="1085868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143" name="Google Shape;185;p18"/>
          <p:cNvSpPr/>
          <p:nvPr/>
        </p:nvSpPr>
        <p:spPr>
          <a:xfrm>
            <a:off x="140760" y="2687040"/>
            <a:ext cx="2409120" cy="16466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US2: [...]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4" name="Google Shape;190;p19"/>
          <p:cNvCxnSpPr/>
          <p:nvPr/>
        </p:nvCxnSpPr>
        <p:spPr>
          <a:xfrm>
            <a:off x="5944680" y="-31320"/>
            <a:ext cx="1800" cy="1085832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145" name="Google Shape;191;p19"/>
          <p:cNvSpPr/>
          <p:nvPr/>
        </p:nvSpPr>
        <p:spPr>
          <a:xfrm>
            <a:off x="3197160" y="842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Google Shape;192;p19"/>
          <p:cNvSpPr/>
          <p:nvPr/>
        </p:nvSpPr>
        <p:spPr>
          <a:xfrm>
            <a:off x="6281640" y="842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Google Shape;193;p19"/>
          <p:cNvSpPr/>
          <p:nvPr/>
        </p:nvSpPr>
        <p:spPr>
          <a:xfrm>
            <a:off x="9366120" y="842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Google Shape;194;p19"/>
          <p:cNvSpPr/>
          <p:nvPr/>
        </p:nvSpPr>
        <p:spPr>
          <a:xfrm>
            <a:off x="12395880" y="842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Google Shape;195;p19"/>
          <p:cNvSpPr/>
          <p:nvPr/>
        </p:nvSpPr>
        <p:spPr>
          <a:xfrm>
            <a:off x="15532560" y="842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Google Shape;196;p19"/>
          <p:cNvSpPr/>
          <p:nvPr/>
        </p:nvSpPr>
        <p:spPr>
          <a:xfrm>
            <a:off x="18668880" y="842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Google Shape;197;p19"/>
          <p:cNvSpPr/>
          <p:nvPr/>
        </p:nvSpPr>
        <p:spPr>
          <a:xfrm>
            <a:off x="167400" y="842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Google Shape;198;p19"/>
          <p:cNvSpPr/>
          <p:nvPr/>
        </p:nvSpPr>
        <p:spPr>
          <a:xfrm>
            <a:off x="3197160" y="13856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#1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Google Shape;199;p19"/>
          <p:cNvSpPr/>
          <p:nvPr/>
        </p:nvSpPr>
        <p:spPr>
          <a:xfrm>
            <a:off x="3197160" y="296136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#2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Google Shape;200;p19"/>
          <p:cNvSpPr/>
          <p:nvPr/>
        </p:nvSpPr>
        <p:spPr>
          <a:xfrm>
            <a:off x="3197160" y="45374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Google Shape;201;p19"/>
          <p:cNvSpPr/>
          <p:nvPr/>
        </p:nvSpPr>
        <p:spPr>
          <a:xfrm>
            <a:off x="3197160" y="611316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#4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Google Shape;202;p19"/>
          <p:cNvSpPr/>
          <p:nvPr/>
        </p:nvSpPr>
        <p:spPr>
          <a:xfrm>
            <a:off x="3197160" y="76892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Google Shape;203;p19"/>
          <p:cNvSpPr/>
          <p:nvPr/>
        </p:nvSpPr>
        <p:spPr>
          <a:xfrm>
            <a:off x="3197160" y="926496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#6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58" name="Google Shape;204;p19"/>
          <p:cNvCxnSpPr/>
          <p:nvPr/>
        </p:nvCxnSpPr>
        <p:spPr>
          <a:xfrm>
            <a:off x="5607720" y="1625760"/>
            <a:ext cx="16044120" cy="180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59" name="Google Shape;205;p19"/>
          <p:cNvCxnSpPr/>
          <p:nvPr/>
        </p:nvCxnSpPr>
        <p:spPr>
          <a:xfrm>
            <a:off x="5607720" y="3201840"/>
            <a:ext cx="16044120" cy="180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60" name="Google Shape;206;p19"/>
          <p:cNvCxnSpPr/>
          <p:nvPr/>
        </p:nvCxnSpPr>
        <p:spPr>
          <a:xfrm>
            <a:off x="5607720" y="4777560"/>
            <a:ext cx="16044120" cy="180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61" name="Google Shape;207;p19"/>
          <p:cNvCxnSpPr/>
          <p:nvPr/>
        </p:nvCxnSpPr>
        <p:spPr>
          <a:xfrm>
            <a:off x="5607720" y="6353640"/>
            <a:ext cx="16044120" cy="180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62" name="Google Shape;208;p19"/>
          <p:cNvCxnSpPr/>
          <p:nvPr/>
        </p:nvCxnSpPr>
        <p:spPr>
          <a:xfrm>
            <a:off x="5607720" y="7929360"/>
            <a:ext cx="16044120" cy="180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63" name="Google Shape;209;p19"/>
          <p:cNvCxnSpPr/>
          <p:nvPr/>
        </p:nvCxnSpPr>
        <p:spPr>
          <a:xfrm>
            <a:off x="5607720" y="9505440"/>
            <a:ext cx="16044120" cy="180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164" name="Google Shape;210;p19"/>
          <p:cNvSpPr/>
          <p:nvPr/>
        </p:nvSpPr>
        <p:spPr>
          <a:xfrm>
            <a:off x="167400" y="801720"/>
            <a:ext cx="2409120" cy="16466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[...]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Google Shape;211;p19"/>
          <p:cNvSpPr/>
          <p:nvPr/>
        </p:nvSpPr>
        <p:spPr>
          <a:xfrm>
            <a:off x="6281640" y="801720"/>
            <a:ext cx="2409120" cy="16466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[...]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Google Shape;212;p19"/>
          <p:cNvSpPr/>
          <p:nvPr/>
        </p:nvSpPr>
        <p:spPr>
          <a:xfrm>
            <a:off x="18668880" y="801720"/>
            <a:ext cx="2409120" cy="16466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T1: [...]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Google Shape;213;p19"/>
          <p:cNvSpPr/>
          <p:nvPr/>
        </p:nvSpPr>
        <p:spPr>
          <a:xfrm>
            <a:off x="6281640" y="4042800"/>
            <a:ext cx="2409120" cy="164664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>
            <a:solidFill>
              <a:srgbClr val="0c34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[...]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Google Shape;214;p19"/>
          <p:cNvSpPr/>
          <p:nvPr/>
        </p:nvSpPr>
        <p:spPr>
          <a:xfrm>
            <a:off x="12395880" y="3953520"/>
            <a:ext cx="2409120" cy="1646640"/>
          </a:xfrm>
          <a:prstGeom prst="roundRect">
            <a:avLst>
              <a:gd name="adj" fmla="val 16667"/>
            </a:avLst>
          </a:prstGeom>
          <a:solidFill>
            <a:srgbClr val="d0e0e3"/>
          </a:solidFill>
          <a:ln w="28575">
            <a:solidFill>
              <a:srgbClr val="0c34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T2: [...]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69" name="Google Shape;215;p19"/>
          <p:cNvCxnSpPr/>
          <p:nvPr/>
        </p:nvCxnSpPr>
        <p:spPr>
          <a:xfrm>
            <a:off x="2874240" y="-28440"/>
            <a:ext cx="1800" cy="1085868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170" name="Google Shape;216;p19"/>
          <p:cNvSpPr/>
          <p:nvPr/>
        </p:nvSpPr>
        <p:spPr>
          <a:xfrm>
            <a:off x="140760" y="2687040"/>
            <a:ext cx="2409120" cy="16466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US2: [...]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221;p20" descr=""/>
          <p:cNvPicPr/>
          <p:nvPr/>
        </p:nvPicPr>
        <p:blipFill>
          <a:blip r:embed="rId1">
            <a:alphaModFix amt="51000"/>
          </a:blip>
          <a:stretch/>
        </p:blipFill>
        <p:spPr>
          <a:xfrm>
            <a:off x="0" y="0"/>
            <a:ext cx="21598200" cy="10798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2" name="Google Shape;222;p20"/>
          <p:cNvSpPr txBox="1"/>
          <p:nvPr/>
        </p:nvSpPr>
        <p:spPr>
          <a:xfrm>
            <a:off x="814320" y="3300840"/>
            <a:ext cx="19955880" cy="4196880"/>
          </a:xfrm>
          <a:prstGeom prst="rect">
            <a:avLst/>
          </a:prstGeom>
        </p:spPr>
        <p:txBody>
          <a:bodyPr wrap="none" lIns="376200" rIns="376200" tIns="102240" bIns="102240" anchor="ctr" anchorCtr="1">
            <a:prstTxWarp prst="textPlain">
              <a:avLst>
                <a:gd name="adj" fmla="val 50000"/>
              </a:avLst>
            </a:prstTxWarp>
            <a:noAutofit/>
          </a:bodyPr>
          <a:p>
            <a:pPr algn="ctr" defTabSz="914400">
              <a:lnSpc>
                <a:spcPct val="100000"/>
              </a:lnSpc>
            </a:pPr>
            <a:r>
              <a:rPr b="1" lang="pt-PT" sz="1400" strike="noStrike" u="none">
                <a:ln w="114480">
                  <a:solidFill>
                    <a:srgbClr val="434343"/>
                  </a:solidFill>
                  <a:round/>
                </a:ln>
                <a:solidFill>
                  <a:schemeClr val="lt1"/>
                </a:solidFill>
                <a:uFillTx/>
                <a:latin typeface="Consolas"/>
                <a:ea typeface="Arial"/>
              </a:rPr>
              <a:t>Sprint 2</a:t>
            </a:r>
            <a:endParaRPr b="0" lang="pt-PT" sz="1400" strike="noStrike" u="none">
              <a:ln w="114480">
                <a:solidFill>
                  <a:srgbClr val="434343"/>
                </a:solidFill>
                <a:round/>
              </a:ln>
              <a:solidFill>
                <a:schemeClr val="lt1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3" name="Google Shape;66;p15"/>
          <p:cNvCxnSpPr/>
          <p:nvPr/>
        </p:nvCxnSpPr>
        <p:spPr>
          <a:xfrm>
            <a:off x="5944680" y="-31320"/>
            <a:ext cx="1800" cy="1085832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174" name="Google Shape;67;p15"/>
          <p:cNvSpPr/>
          <p:nvPr/>
        </p:nvSpPr>
        <p:spPr>
          <a:xfrm>
            <a:off x="3197160" y="842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Google Shape;68;p15"/>
          <p:cNvSpPr/>
          <p:nvPr/>
        </p:nvSpPr>
        <p:spPr>
          <a:xfrm>
            <a:off x="6281640" y="842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Google Shape;69;p15"/>
          <p:cNvSpPr/>
          <p:nvPr/>
        </p:nvSpPr>
        <p:spPr>
          <a:xfrm>
            <a:off x="9366120" y="842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Google Shape;70;p15"/>
          <p:cNvSpPr/>
          <p:nvPr/>
        </p:nvSpPr>
        <p:spPr>
          <a:xfrm>
            <a:off x="12395880" y="842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Google Shape;71;p15"/>
          <p:cNvSpPr/>
          <p:nvPr/>
        </p:nvSpPr>
        <p:spPr>
          <a:xfrm>
            <a:off x="15532560" y="842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Google Shape;72;p15"/>
          <p:cNvSpPr/>
          <p:nvPr/>
        </p:nvSpPr>
        <p:spPr>
          <a:xfrm>
            <a:off x="18668880" y="842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Google Shape;73;p15"/>
          <p:cNvSpPr/>
          <p:nvPr/>
        </p:nvSpPr>
        <p:spPr>
          <a:xfrm>
            <a:off x="167400" y="842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Google Shape;74;p15"/>
          <p:cNvSpPr/>
          <p:nvPr/>
        </p:nvSpPr>
        <p:spPr>
          <a:xfrm>
            <a:off x="3197160" y="13856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66565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Google Shape;75;p15"/>
          <p:cNvSpPr/>
          <p:nvPr/>
        </p:nvSpPr>
        <p:spPr>
          <a:xfrm>
            <a:off x="3197160" y="296136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67196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Google Shape;76;p15"/>
          <p:cNvSpPr/>
          <p:nvPr/>
        </p:nvSpPr>
        <p:spPr>
          <a:xfrm>
            <a:off x="3197160" y="45374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67215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Google Shape;77;p15"/>
          <p:cNvSpPr/>
          <p:nvPr/>
        </p:nvSpPr>
        <p:spPr>
          <a:xfrm>
            <a:off x="3197160" y="611316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PT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68509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Google Shape;78;p15"/>
          <p:cNvSpPr/>
          <p:nvPr/>
        </p:nvSpPr>
        <p:spPr>
          <a:xfrm>
            <a:off x="3197160" y="76892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68663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Google Shape;79;p15"/>
          <p:cNvSpPr/>
          <p:nvPr/>
        </p:nvSpPr>
        <p:spPr>
          <a:xfrm>
            <a:off x="3197160" y="926496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70116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87" name="Google Shape;80;p15"/>
          <p:cNvCxnSpPr/>
          <p:nvPr/>
        </p:nvCxnSpPr>
        <p:spPr>
          <a:xfrm>
            <a:off x="5607720" y="1625760"/>
            <a:ext cx="16044120" cy="180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88" name="Google Shape;81;p15"/>
          <p:cNvCxnSpPr/>
          <p:nvPr/>
        </p:nvCxnSpPr>
        <p:spPr>
          <a:xfrm>
            <a:off x="5607720" y="3201840"/>
            <a:ext cx="16044120" cy="180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89" name="Google Shape;82;p15"/>
          <p:cNvCxnSpPr/>
          <p:nvPr/>
        </p:nvCxnSpPr>
        <p:spPr>
          <a:xfrm>
            <a:off x="5607720" y="4777560"/>
            <a:ext cx="16044120" cy="180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90" name="Google Shape;83;p15"/>
          <p:cNvCxnSpPr/>
          <p:nvPr/>
        </p:nvCxnSpPr>
        <p:spPr>
          <a:xfrm>
            <a:off x="5607720" y="6353640"/>
            <a:ext cx="16044120" cy="180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91" name="Google Shape;84;p15"/>
          <p:cNvCxnSpPr/>
          <p:nvPr/>
        </p:nvCxnSpPr>
        <p:spPr>
          <a:xfrm>
            <a:off x="5607720" y="7929360"/>
            <a:ext cx="16044120" cy="180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192" name="Google Shape;85;p15"/>
          <p:cNvCxnSpPr/>
          <p:nvPr/>
        </p:nvCxnSpPr>
        <p:spPr>
          <a:xfrm>
            <a:off x="5607720" y="9505440"/>
            <a:ext cx="16044120" cy="180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193" name="Google Shape;86;p15"/>
          <p:cNvSpPr/>
          <p:nvPr/>
        </p:nvSpPr>
        <p:spPr>
          <a:xfrm>
            <a:off x="167400" y="801720"/>
            <a:ext cx="2409120" cy="2638800"/>
          </a:xfrm>
          <a:prstGeom prst="roundRect">
            <a:avLst>
              <a:gd name="adj" fmla="val 16667"/>
            </a:avLst>
          </a:prstGeom>
          <a:solidFill>
            <a:srgbClr val="ffab40"/>
          </a:solidFill>
          <a:ln>
            <a:solidFill>
              <a:srgbClr val="6f4a1c"/>
            </a:solidFill>
            <a:round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chemeClr val="lt1"/>
                </a:solidFill>
                <a:effectLst/>
                <a:uFillTx/>
                <a:latin typeface="Consolas"/>
                <a:ea typeface="Consolas"/>
              </a:rPr>
              <a:t>Code Smells report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94" name="Google Shape;91;p15"/>
          <p:cNvCxnSpPr/>
          <p:nvPr/>
        </p:nvCxnSpPr>
        <p:spPr>
          <a:xfrm>
            <a:off x="2874240" y="-28440"/>
            <a:ext cx="1800" cy="1085868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195" name="Google Shape;92;p15"/>
          <p:cNvSpPr/>
          <p:nvPr/>
        </p:nvSpPr>
        <p:spPr>
          <a:xfrm>
            <a:off x="167400" y="3894840"/>
            <a:ext cx="2435400" cy="2638800"/>
          </a:xfrm>
          <a:prstGeom prst="roundRect">
            <a:avLst>
              <a:gd name="adj" fmla="val 16667"/>
            </a:avLst>
          </a:prstGeom>
          <a:solidFill>
            <a:srgbClr val="ffab40"/>
          </a:solidFill>
          <a:ln>
            <a:solidFill>
              <a:srgbClr val="6f4a1c"/>
            </a:solidFill>
            <a:round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US" sz="1400" strike="noStrike" u="none">
                <a:solidFill>
                  <a:schemeClr val="lt1"/>
                </a:solidFill>
                <a:effectLst/>
                <a:uFillTx/>
                <a:latin typeface="Consolas"/>
                <a:ea typeface="Consolas"/>
              </a:rPr>
              <a:t>Use case diagram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Google Shape;87;p15"/>
          <p:cNvSpPr/>
          <p:nvPr/>
        </p:nvSpPr>
        <p:spPr>
          <a:xfrm>
            <a:off x="29520" y="1385640"/>
            <a:ext cx="1874160" cy="22914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Google Shape;87;p15"/>
          <p:cNvSpPr/>
          <p:nvPr/>
        </p:nvSpPr>
        <p:spPr>
          <a:xfrm>
            <a:off x="984600" y="1480680"/>
            <a:ext cx="1874160" cy="22914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8" name="Google Shape;66;p15"/>
          <p:cNvCxnSpPr/>
          <p:nvPr/>
        </p:nvCxnSpPr>
        <p:spPr>
          <a:xfrm>
            <a:off x="5944680" y="-31320"/>
            <a:ext cx="1800" cy="1085832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199" name="Google Shape;67;p15"/>
          <p:cNvSpPr/>
          <p:nvPr/>
        </p:nvSpPr>
        <p:spPr>
          <a:xfrm>
            <a:off x="3197160" y="842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Google Shape;68;p15"/>
          <p:cNvSpPr/>
          <p:nvPr/>
        </p:nvSpPr>
        <p:spPr>
          <a:xfrm>
            <a:off x="6281640" y="842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Google Shape;69;p15"/>
          <p:cNvSpPr/>
          <p:nvPr/>
        </p:nvSpPr>
        <p:spPr>
          <a:xfrm>
            <a:off x="9366120" y="842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Google Shape;70;p15"/>
          <p:cNvSpPr/>
          <p:nvPr/>
        </p:nvSpPr>
        <p:spPr>
          <a:xfrm>
            <a:off x="12395880" y="842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Google Shape;71;p15"/>
          <p:cNvSpPr/>
          <p:nvPr/>
        </p:nvSpPr>
        <p:spPr>
          <a:xfrm>
            <a:off x="15532560" y="842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Google Shape;72;p15"/>
          <p:cNvSpPr/>
          <p:nvPr/>
        </p:nvSpPr>
        <p:spPr>
          <a:xfrm>
            <a:off x="18668880" y="842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Google Shape;73;p15"/>
          <p:cNvSpPr/>
          <p:nvPr/>
        </p:nvSpPr>
        <p:spPr>
          <a:xfrm>
            <a:off x="167400" y="842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Google Shape;74;p15"/>
          <p:cNvSpPr/>
          <p:nvPr/>
        </p:nvSpPr>
        <p:spPr>
          <a:xfrm>
            <a:off x="3197160" y="13856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66565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Google Shape;75;p15"/>
          <p:cNvSpPr/>
          <p:nvPr/>
        </p:nvSpPr>
        <p:spPr>
          <a:xfrm>
            <a:off x="3197160" y="296136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67196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Google Shape;76;p15"/>
          <p:cNvSpPr/>
          <p:nvPr/>
        </p:nvSpPr>
        <p:spPr>
          <a:xfrm>
            <a:off x="3197160" y="45374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67215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Google Shape;77;p15"/>
          <p:cNvSpPr/>
          <p:nvPr/>
        </p:nvSpPr>
        <p:spPr>
          <a:xfrm>
            <a:off x="3197160" y="611316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PT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68509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Google Shape;78;p15"/>
          <p:cNvSpPr/>
          <p:nvPr/>
        </p:nvSpPr>
        <p:spPr>
          <a:xfrm>
            <a:off x="3197160" y="76892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68663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Google Shape;79;p15"/>
          <p:cNvSpPr/>
          <p:nvPr/>
        </p:nvSpPr>
        <p:spPr>
          <a:xfrm>
            <a:off x="3197160" y="926496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70116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12" name="Google Shape;80;p15"/>
          <p:cNvCxnSpPr/>
          <p:nvPr/>
        </p:nvCxnSpPr>
        <p:spPr>
          <a:xfrm>
            <a:off x="5607720" y="1625760"/>
            <a:ext cx="16044120" cy="180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13" name="Google Shape;81;p15"/>
          <p:cNvCxnSpPr/>
          <p:nvPr/>
        </p:nvCxnSpPr>
        <p:spPr>
          <a:xfrm>
            <a:off x="5607720" y="3201840"/>
            <a:ext cx="16044120" cy="180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14" name="Google Shape;82;p15"/>
          <p:cNvCxnSpPr/>
          <p:nvPr/>
        </p:nvCxnSpPr>
        <p:spPr>
          <a:xfrm>
            <a:off x="5607720" y="4777560"/>
            <a:ext cx="16044120" cy="180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15" name="Google Shape;83;p15"/>
          <p:cNvCxnSpPr/>
          <p:nvPr/>
        </p:nvCxnSpPr>
        <p:spPr>
          <a:xfrm>
            <a:off x="5607720" y="6353640"/>
            <a:ext cx="16044120" cy="180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16" name="Google Shape;84;p15"/>
          <p:cNvCxnSpPr/>
          <p:nvPr/>
        </p:nvCxnSpPr>
        <p:spPr>
          <a:xfrm>
            <a:off x="5607720" y="7929360"/>
            <a:ext cx="16044120" cy="180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17" name="Google Shape;85;p15"/>
          <p:cNvCxnSpPr/>
          <p:nvPr/>
        </p:nvCxnSpPr>
        <p:spPr>
          <a:xfrm>
            <a:off x="5607720" y="9505440"/>
            <a:ext cx="16044120" cy="180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218" name="Google Shape;86;p15"/>
          <p:cNvSpPr/>
          <p:nvPr/>
        </p:nvSpPr>
        <p:spPr>
          <a:xfrm>
            <a:off x="6235200" y="1330920"/>
            <a:ext cx="2409120" cy="4075200"/>
          </a:xfrm>
          <a:prstGeom prst="roundRect">
            <a:avLst>
              <a:gd name="adj" fmla="val 16667"/>
            </a:avLst>
          </a:prstGeom>
          <a:solidFill>
            <a:srgbClr val="ffab40"/>
          </a:solidFill>
          <a:ln>
            <a:solidFill>
              <a:srgbClr val="6f4a1c"/>
            </a:solidFill>
            <a:round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chemeClr val="lt1"/>
                </a:solidFill>
                <a:effectLst/>
                <a:uFillTx/>
                <a:latin typeface="Consolas"/>
                <a:ea typeface="Consolas"/>
              </a:rPr>
              <a:t>Code Smells report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19" name="Google Shape;91;p15"/>
          <p:cNvCxnSpPr/>
          <p:nvPr/>
        </p:nvCxnSpPr>
        <p:spPr>
          <a:xfrm>
            <a:off x="2874240" y="-28440"/>
            <a:ext cx="1800" cy="1085868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220" name="Google Shape;92;p15"/>
          <p:cNvSpPr/>
          <p:nvPr/>
        </p:nvSpPr>
        <p:spPr>
          <a:xfrm>
            <a:off x="6240960" y="6022080"/>
            <a:ext cx="2435400" cy="4175280"/>
          </a:xfrm>
          <a:prstGeom prst="roundRect">
            <a:avLst>
              <a:gd name="adj" fmla="val 16667"/>
            </a:avLst>
          </a:prstGeom>
          <a:solidFill>
            <a:srgbClr val="ffab40"/>
          </a:solidFill>
          <a:ln>
            <a:solidFill>
              <a:srgbClr val="6f4a1c"/>
            </a:solidFill>
            <a:round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US" sz="1400" strike="noStrike" u="none">
                <a:solidFill>
                  <a:schemeClr val="lt1"/>
                </a:solidFill>
                <a:effectLst/>
                <a:uFillTx/>
                <a:latin typeface="Consolas"/>
                <a:ea typeface="Consolas"/>
              </a:rPr>
              <a:t>Use case diagram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Google Shape;87;p15"/>
          <p:cNvSpPr/>
          <p:nvPr/>
        </p:nvSpPr>
        <p:spPr>
          <a:xfrm>
            <a:off x="12691080" y="719640"/>
            <a:ext cx="1874160" cy="22914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Google Shape;87;p15"/>
          <p:cNvSpPr/>
          <p:nvPr/>
        </p:nvSpPr>
        <p:spPr>
          <a:xfrm>
            <a:off x="9609840" y="680040"/>
            <a:ext cx="1874160" cy="22914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Google Shape;87;p15"/>
          <p:cNvSpPr/>
          <p:nvPr/>
        </p:nvSpPr>
        <p:spPr>
          <a:xfrm>
            <a:off x="12691080" y="2122200"/>
            <a:ext cx="1874160" cy="22914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Google Shape;87;p15"/>
          <p:cNvSpPr/>
          <p:nvPr/>
        </p:nvSpPr>
        <p:spPr>
          <a:xfrm>
            <a:off x="12691080" y="3372120"/>
            <a:ext cx="1874160" cy="22914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Google Shape;87;p15"/>
          <p:cNvSpPr/>
          <p:nvPr/>
        </p:nvSpPr>
        <p:spPr>
          <a:xfrm>
            <a:off x="12691080" y="5006160"/>
            <a:ext cx="1874160" cy="22914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Google Shape;87;p15"/>
          <p:cNvSpPr/>
          <p:nvPr/>
        </p:nvSpPr>
        <p:spPr>
          <a:xfrm>
            <a:off x="12663360" y="6631920"/>
            <a:ext cx="1874160" cy="22914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Google Shape;87;p15"/>
          <p:cNvSpPr/>
          <p:nvPr/>
        </p:nvSpPr>
        <p:spPr>
          <a:xfrm>
            <a:off x="12663360" y="8276400"/>
            <a:ext cx="1874160" cy="22914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Google Shape;87;p15"/>
          <p:cNvSpPr/>
          <p:nvPr/>
        </p:nvSpPr>
        <p:spPr>
          <a:xfrm>
            <a:off x="9609840" y="2283120"/>
            <a:ext cx="1874160" cy="22914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Google Shape;87;p15"/>
          <p:cNvSpPr/>
          <p:nvPr/>
        </p:nvSpPr>
        <p:spPr>
          <a:xfrm>
            <a:off x="9609840" y="3782160"/>
            <a:ext cx="1874160" cy="22914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Google Shape;87;p15"/>
          <p:cNvSpPr/>
          <p:nvPr/>
        </p:nvSpPr>
        <p:spPr>
          <a:xfrm>
            <a:off x="9621000" y="5207040"/>
            <a:ext cx="1874160" cy="22914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Google Shape;87;p15"/>
          <p:cNvSpPr/>
          <p:nvPr/>
        </p:nvSpPr>
        <p:spPr>
          <a:xfrm>
            <a:off x="9609840" y="6725520"/>
            <a:ext cx="1874160" cy="22914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Google Shape;87;p15"/>
          <p:cNvSpPr/>
          <p:nvPr/>
        </p:nvSpPr>
        <p:spPr>
          <a:xfrm>
            <a:off x="9582120" y="8301600"/>
            <a:ext cx="1874160" cy="22914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33" name="Google Shape;66;p15"/>
          <p:cNvCxnSpPr/>
          <p:nvPr/>
        </p:nvCxnSpPr>
        <p:spPr>
          <a:xfrm>
            <a:off x="5944680" y="-31320"/>
            <a:ext cx="1800" cy="1085832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234" name="Google Shape;67;p15"/>
          <p:cNvSpPr/>
          <p:nvPr/>
        </p:nvSpPr>
        <p:spPr>
          <a:xfrm>
            <a:off x="3197160" y="842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Google Shape;68;p15"/>
          <p:cNvSpPr/>
          <p:nvPr/>
        </p:nvSpPr>
        <p:spPr>
          <a:xfrm>
            <a:off x="6281640" y="842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Google Shape;69;p15"/>
          <p:cNvSpPr/>
          <p:nvPr/>
        </p:nvSpPr>
        <p:spPr>
          <a:xfrm>
            <a:off x="9366120" y="842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Google Shape;70;p15"/>
          <p:cNvSpPr/>
          <p:nvPr/>
        </p:nvSpPr>
        <p:spPr>
          <a:xfrm>
            <a:off x="12395880" y="842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Google Shape;71;p15"/>
          <p:cNvSpPr/>
          <p:nvPr/>
        </p:nvSpPr>
        <p:spPr>
          <a:xfrm>
            <a:off x="15532560" y="842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Google Shape;72;p15"/>
          <p:cNvSpPr/>
          <p:nvPr/>
        </p:nvSpPr>
        <p:spPr>
          <a:xfrm>
            <a:off x="18668880" y="842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Google Shape;73;p15"/>
          <p:cNvSpPr/>
          <p:nvPr/>
        </p:nvSpPr>
        <p:spPr>
          <a:xfrm>
            <a:off x="167400" y="842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Google Shape;74;p15"/>
          <p:cNvSpPr/>
          <p:nvPr/>
        </p:nvSpPr>
        <p:spPr>
          <a:xfrm>
            <a:off x="3197160" y="13856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66565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Google Shape;75;p15"/>
          <p:cNvSpPr/>
          <p:nvPr/>
        </p:nvSpPr>
        <p:spPr>
          <a:xfrm>
            <a:off x="3197160" y="296136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67196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Google Shape;76;p15"/>
          <p:cNvSpPr/>
          <p:nvPr/>
        </p:nvSpPr>
        <p:spPr>
          <a:xfrm>
            <a:off x="3197160" y="45374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67215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Google Shape;77;p15"/>
          <p:cNvSpPr/>
          <p:nvPr/>
        </p:nvSpPr>
        <p:spPr>
          <a:xfrm>
            <a:off x="3197160" y="611316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PT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68509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Google Shape;78;p15"/>
          <p:cNvSpPr/>
          <p:nvPr/>
        </p:nvSpPr>
        <p:spPr>
          <a:xfrm>
            <a:off x="3197160" y="76892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68663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Google Shape;79;p15"/>
          <p:cNvSpPr/>
          <p:nvPr/>
        </p:nvSpPr>
        <p:spPr>
          <a:xfrm>
            <a:off x="3197160" y="926496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70116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47" name="Google Shape;80;p15"/>
          <p:cNvCxnSpPr/>
          <p:nvPr/>
        </p:nvCxnSpPr>
        <p:spPr>
          <a:xfrm>
            <a:off x="5607720" y="1625760"/>
            <a:ext cx="16044120" cy="180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48" name="Google Shape;81;p15"/>
          <p:cNvCxnSpPr/>
          <p:nvPr/>
        </p:nvCxnSpPr>
        <p:spPr>
          <a:xfrm>
            <a:off x="5607720" y="3201840"/>
            <a:ext cx="16044120" cy="180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49" name="Google Shape;82;p15"/>
          <p:cNvCxnSpPr/>
          <p:nvPr/>
        </p:nvCxnSpPr>
        <p:spPr>
          <a:xfrm>
            <a:off x="5607720" y="4777560"/>
            <a:ext cx="16044120" cy="180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50" name="Google Shape;83;p15"/>
          <p:cNvCxnSpPr/>
          <p:nvPr/>
        </p:nvCxnSpPr>
        <p:spPr>
          <a:xfrm>
            <a:off x="5607720" y="6353640"/>
            <a:ext cx="16044120" cy="180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51" name="Google Shape;84;p15"/>
          <p:cNvCxnSpPr/>
          <p:nvPr/>
        </p:nvCxnSpPr>
        <p:spPr>
          <a:xfrm>
            <a:off x="5607720" y="7929360"/>
            <a:ext cx="16044120" cy="180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52" name="Google Shape;85;p15"/>
          <p:cNvCxnSpPr/>
          <p:nvPr/>
        </p:nvCxnSpPr>
        <p:spPr>
          <a:xfrm>
            <a:off x="5607720" y="9505440"/>
            <a:ext cx="16044120" cy="180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253" name="Google Shape;86;p15"/>
          <p:cNvSpPr/>
          <p:nvPr/>
        </p:nvSpPr>
        <p:spPr>
          <a:xfrm>
            <a:off x="6235200" y="1330920"/>
            <a:ext cx="2409120" cy="4075200"/>
          </a:xfrm>
          <a:prstGeom prst="roundRect">
            <a:avLst>
              <a:gd name="adj" fmla="val 16667"/>
            </a:avLst>
          </a:prstGeom>
          <a:solidFill>
            <a:srgbClr val="ffab40"/>
          </a:solidFill>
          <a:ln>
            <a:solidFill>
              <a:srgbClr val="6f4a1c"/>
            </a:solidFill>
            <a:round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chemeClr val="lt1"/>
                </a:solidFill>
                <a:effectLst/>
                <a:uFillTx/>
                <a:latin typeface="Consolas"/>
                <a:ea typeface="Consolas"/>
              </a:rPr>
              <a:t>Code Smells report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54" name="Google Shape;91;p15"/>
          <p:cNvCxnSpPr/>
          <p:nvPr/>
        </p:nvCxnSpPr>
        <p:spPr>
          <a:xfrm>
            <a:off x="2874240" y="-28440"/>
            <a:ext cx="1800" cy="1085868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255" name="Google Shape;92;p15"/>
          <p:cNvSpPr/>
          <p:nvPr/>
        </p:nvSpPr>
        <p:spPr>
          <a:xfrm>
            <a:off x="6240960" y="6022080"/>
            <a:ext cx="2435400" cy="4175280"/>
          </a:xfrm>
          <a:prstGeom prst="roundRect">
            <a:avLst>
              <a:gd name="adj" fmla="val 16667"/>
            </a:avLst>
          </a:prstGeom>
          <a:solidFill>
            <a:srgbClr val="ffab40"/>
          </a:solidFill>
          <a:ln>
            <a:solidFill>
              <a:srgbClr val="6f4a1c"/>
            </a:solidFill>
            <a:round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US" sz="1400" strike="noStrike" u="none">
                <a:solidFill>
                  <a:schemeClr val="lt1"/>
                </a:solidFill>
                <a:effectLst/>
                <a:uFillTx/>
                <a:latin typeface="Consolas"/>
                <a:ea typeface="Consolas"/>
              </a:rPr>
              <a:t>Use case diagram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Google Shape;87;p15"/>
          <p:cNvSpPr/>
          <p:nvPr/>
        </p:nvSpPr>
        <p:spPr>
          <a:xfrm>
            <a:off x="19018800" y="680040"/>
            <a:ext cx="1874160" cy="22914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Google Shape;87;p15"/>
          <p:cNvSpPr/>
          <p:nvPr/>
        </p:nvSpPr>
        <p:spPr>
          <a:xfrm>
            <a:off x="12657600" y="737640"/>
            <a:ext cx="1874160" cy="22914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Google Shape;87;p15"/>
          <p:cNvSpPr/>
          <p:nvPr/>
        </p:nvSpPr>
        <p:spPr>
          <a:xfrm>
            <a:off x="19018800" y="2082600"/>
            <a:ext cx="1874160" cy="22914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Google Shape;87;p15"/>
          <p:cNvSpPr/>
          <p:nvPr/>
        </p:nvSpPr>
        <p:spPr>
          <a:xfrm>
            <a:off x="19018800" y="3332160"/>
            <a:ext cx="1874160" cy="22914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Google Shape;87;p15"/>
          <p:cNvSpPr/>
          <p:nvPr/>
        </p:nvSpPr>
        <p:spPr>
          <a:xfrm>
            <a:off x="19018800" y="4966560"/>
            <a:ext cx="1874160" cy="22914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Google Shape;87;p15"/>
          <p:cNvSpPr/>
          <p:nvPr/>
        </p:nvSpPr>
        <p:spPr>
          <a:xfrm>
            <a:off x="18991080" y="6592320"/>
            <a:ext cx="1874160" cy="22914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Google Shape;87;p15"/>
          <p:cNvSpPr/>
          <p:nvPr/>
        </p:nvSpPr>
        <p:spPr>
          <a:xfrm>
            <a:off x="18991080" y="8236440"/>
            <a:ext cx="1874160" cy="22914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Google Shape;87;p15"/>
          <p:cNvSpPr/>
          <p:nvPr/>
        </p:nvSpPr>
        <p:spPr>
          <a:xfrm>
            <a:off x="12657600" y="2340720"/>
            <a:ext cx="1874160" cy="22914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Google Shape;87;p15"/>
          <p:cNvSpPr/>
          <p:nvPr/>
        </p:nvSpPr>
        <p:spPr>
          <a:xfrm>
            <a:off x="12657600" y="3839760"/>
            <a:ext cx="1874160" cy="22914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" name="Google Shape;87;p15"/>
          <p:cNvSpPr/>
          <p:nvPr/>
        </p:nvSpPr>
        <p:spPr>
          <a:xfrm>
            <a:off x="12668400" y="5264640"/>
            <a:ext cx="1874160" cy="22914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Google Shape;87;p15"/>
          <p:cNvSpPr/>
          <p:nvPr/>
        </p:nvSpPr>
        <p:spPr>
          <a:xfrm>
            <a:off x="12657600" y="6783120"/>
            <a:ext cx="1874160" cy="22914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Google Shape;87;p15"/>
          <p:cNvSpPr/>
          <p:nvPr/>
        </p:nvSpPr>
        <p:spPr>
          <a:xfrm>
            <a:off x="12629880" y="8358840"/>
            <a:ext cx="1874160" cy="22914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8" name="Google Shape;221;p 1" descr=""/>
          <p:cNvPicPr/>
          <p:nvPr/>
        </p:nvPicPr>
        <p:blipFill>
          <a:blip r:embed="rId1">
            <a:alphaModFix amt="51000"/>
          </a:blip>
          <a:stretch/>
        </p:blipFill>
        <p:spPr>
          <a:xfrm>
            <a:off x="0" y="0"/>
            <a:ext cx="21598200" cy="10798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9" name="Google Shape;222;p 1"/>
          <p:cNvSpPr txBox="1"/>
          <p:nvPr/>
        </p:nvSpPr>
        <p:spPr>
          <a:xfrm>
            <a:off x="814320" y="3300840"/>
            <a:ext cx="19955880" cy="4196880"/>
          </a:xfrm>
          <a:prstGeom prst="rect">
            <a:avLst/>
          </a:prstGeom>
        </p:spPr>
        <p:txBody>
          <a:bodyPr wrap="none" lIns="376200" rIns="376200" tIns="102240" bIns="102240" anchor="ctr" anchorCtr="1">
            <a:prstTxWarp prst="textPlain">
              <a:avLst>
                <a:gd name="adj" fmla="val 50000"/>
              </a:avLst>
            </a:prstTxWarp>
            <a:noAutofit/>
          </a:bodyPr>
          <a:p>
            <a:pPr algn="ctr" defTabSz="914400">
              <a:lnSpc>
                <a:spcPct val="100000"/>
              </a:lnSpc>
            </a:pPr>
            <a:r>
              <a:rPr b="1" lang="pt-PT" sz="1400" strike="noStrike" u="none">
                <a:ln w="114480">
                  <a:solidFill>
                    <a:srgbClr val="434343"/>
                  </a:solidFill>
                  <a:round/>
                </a:ln>
                <a:solidFill>
                  <a:schemeClr val="lt1"/>
                </a:solidFill>
                <a:uFillTx/>
                <a:latin typeface="Consolas"/>
                <a:ea typeface="Arial"/>
              </a:rPr>
              <a:t>Sprint 3</a:t>
            </a:r>
            <a:endParaRPr b="0" lang="pt-PT" sz="1400" strike="noStrike" u="none">
              <a:ln w="114480">
                <a:solidFill>
                  <a:srgbClr val="434343"/>
                </a:solidFill>
                <a:round/>
              </a:ln>
              <a:solidFill>
                <a:schemeClr val="lt1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70" name="Google Shape;66;p 1"/>
          <p:cNvCxnSpPr/>
          <p:nvPr/>
        </p:nvCxnSpPr>
        <p:spPr>
          <a:xfrm>
            <a:off x="5944680" y="-31320"/>
            <a:ext cx="1800" cy="1085832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271" name="Google Shape;67;p 1"/>
          <p:cNvSpPr/>
          <p:nvPr/>
        </p:nvSpPr>
        <p:spPr>
          <a:xfrm>
            <a:off x="3197160" y="842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Google Shape;68;p 1"/>
          <p:cNvSpPr/>
          <p:nvPr/>
        </p:nvSpPr>
        <p:spPr>
          <a:xfrm>
            <a:off x="6281640" y="842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Google Shape;69;p 1"/>
          <p:cNvSpPr/>
          <p:nvPr/>
        </p:nvSpPr>
        <p:spPr>
          <a:xfrm>
            <a:off x="9366120" y="842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Google Shape;70;p 1"/>
          <p:cNvSpPr/>
          <p:nvPr/>
        </p:nvSpPr>
        <p:spPr>
          <a:xfrm>
            <a:off x="12395880" y="842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Google Shape;71;p 1"/>
          <p:cNvSpPr/>
          <p:nvPr/>
        </p:nvSpPr>
        <p:spPr>
          <a:xfrm>
            <a:off x="15532560" y="842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Google Shape;72;p 1"/>
          <p:cNvSpPr/>
          <p:nvPr/>
        </p:nvSpPr>
        <p:spPr>
          <a:xfrm>
            <a:off x="18668880" y="842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Google Shape;73;p 1"/>
          <p:cNvSpPr/>
          <p:nvPr/>
        </p:nvSpPr>
        <p:spPr>
          <a:xfrm>
            <a:off x="167400" y="842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Google Shape;74;p 1"/>
          <p:cNvSpPr/>
          <p:nvPr/>
        </p:nvSpPr>
        <p:spPr>
          <a:xfrm>
            <a:off x="3197160" y="13856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66565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Google Shape;75;p 1"/>
          <p:cNvSpPr/>
          <p:nvPr/>
        </p:nvSpPr>
        <p:spPr>
          <a:xfrm>
            <a:off x="3197160" y="296136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67196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" name="Google Shape;76;p 1"/>
          <p:cNvSpPr/>
          <p:nvPr/>
        </p:nvSpPr>
        <p:spPr>
          <a:xfrm>
            <a:off x="3197160" y="45374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67215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Google Shape;77;p 1"/>
          <p:cNvSpPr/>
          <p:nvPr/>
        </p:nvSpPr>
        <p:spPr>
          <a:xfrm>
            <a:off x="3197160" y="611316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PT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68509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Google Shape;78;p 1"/>
          <p:cNvSpPr/>
          <p:nvPr/>
        </p:nvSpPr>
        <p:spPr>
          <a:xfrm>
            <a:off x="3197160" y="76892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68663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Google Shape;79;p 1"/>
          <p:cNvSpPr/>
          <p:nvPr/>
        </p:nvSpPr>
        <p:spPr>
          <a:xfrm>
            <a:off x="3197160" y="926496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70116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84" name="Google Shape;80;p 1"/>
          <p:cNvCxnSpPr/>
          <p:nvPr/>
        </p:nvCxnSpPr>
        <p:spPr>
          <a:xfrm>
            <a:off x="5607720" y="1625760"/>
            <a:ext cx="16044120" cy="180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85" name="Google Shape;81;p 1"/>
          <p:cNvCxnSpPr/>
          <p:nvPr/>
        </p:nvCxnSpPr>
        <p:spPr>
          <a:xfrm>
            <a:off x="5607720" y="3201840"/>
            <a:ext cx="16044120" cy="180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86" name="Google Shape;82;p 1"/>
          <p:cNvCxnSpPr/>
          <p:nvPr/>
        </p:nvCxnSpPr>
        <p:spPr>
          <a:xfrm>
            <a:off x="5607720" y="4777560"/>
            <a:ext cx="16044120" cy="180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87" name="Google Shape;83;p 1"/>
          <p:cNvCxnSpPr/>
          <p:nvPr/>
        </p:nvCxnSpPr>
        <p:spPr>
          <a:xfrm>
            <a:off x="5607720" y="6353640"/>
            <a:ext cx="16044120" cy="180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88" name="Google Shape;84;p 1"/>
          <p:cNvCxnSpPr/>
          <p:nvPr/>
        </p:nvCxnSpPr>
        <p:spPr>
          <a:xfrm>
            <a:off x="5607720" y="7929360"/>
            <a:ext cx="16044120" cy="180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289" name="Google Shape;85;p 1"/>
          <p:cNvCxnSpPr/>
          <p:nvPr/>
        </p:nvCxnSpPr>
        <p:spPr>
          <a:xfrm>
            <a:off x="5607720" y="9505440"/>
            <a:ext cx="16044120" cy="180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290" name="Google Shape;86;p 1"/>
          <p:cNvSpPr/>
          <p:nvPr/>
        </p:nvSpPr>
        <p:spPr>
          <a:xfrm>
            <a:off x="6235200" y="970920"/>
            <a:ext cx="2409120" cy="8927640"/>
          </a:xfrm>
          <a:prstGeom prst="roundRect">
            <a:avLst>
              <a:gd name="adj" fmla="val 16667"/>
            </a:avLst>
          </a:prstGeom>
          <a:solidFill>
            <a:srgbClr val="ffab40"/>
          </a:solidFill>
          <a:ln>
            <a:solidFill>
              <a:srgbClr val="6f4a1c"/>
            </a:solidFill>
            <a:round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600" strike="noStrike" u="none">
                <a:solidFill>
                  <a:schemeClr val="lt1"/>
                </a:solidFill>
                <a:effectLst/>
                <a:uFillTx/>
                <a:latin typeface="Consolas"/>
                <a:ea typeface="Consolas"/>
              </a:rPr>
              <a:t>Code Smells and design patterns report.</a:t>
            </a:r>
            <a:endParaRPr b="0" lang="pt-PT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pt-PT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600" strike="noStrike" u="none">
                <a:solidFill>
                  <a:schemeClr val="lt1"/>
                </a:solidFill>
                <a:effectLst/>
                <a:uFillTx/>
                <a:latin typeface="Consolas"/>
                <a:ea typeface="Consolas"/>
              </a:rPr>
              <a:t>Use case diagram</a:t>
            </a:r>
            <a:endParaRPr b="0" lang="pt-PT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91" name="Google Shape;91;p 1"/>
          <p:cNvCxnSpPr/>
          <p:nvPr/>
        </p:nvCxnSpPr>
        <p:spPr>
          <a:xfrm>
            <a:off x="2874240" y="-28440"/>
            <a:ext cx="1800" cy="1085868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292" name="Google Shape;87;p 1"/>
          <p:cNvSpPr/>
          <p:nvPr/>
        </p:nvSpPr>
        <p:spPr>
          <a:xfrm>
            <a:off x="18838800" y="1220040"/>
            <a:ext cx="1139760" cy="7585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Google Shape;87;p 12"/>
          <p:cNvSpPr/>
          <p:nvPr/>
        </p:nvSpPr>
        <p:spPr>
          <a:xfrm>
            <a:off x="12600000" y="9075960"/>
            <a:ext cx="1874160" cy="17197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smells, Design patterns and create Use case diagram.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Google Shape;87;p 3"/>
          <p:cNvSpPr/>
          <p:nvPr/>
        </p:nvSpPr>
        <p:spPr>
          <a:xfrm>
            <a:off x="18900000" y="2840040"/>
            <a:ext cx="1139760" cy="7585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Google Shape;87;p 4"/>
          <p:cNvSpPr/>
          <p:nvPr/>
        </p:nvSpPr>
        <p:spPr>
          <a:xfrm>
            <a:off x="18838800" y="4280040"/>
            <a:ext cx="1139760" cy="7585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Google Shape;87;p 6"/>
          <p:cNvSpPr/>
          <p:nvPr/>
        </p:nvSpPr>
        <p:spPr>
          <a:xfrm>
            <a:off x="18838800" y="5940000"/>
            <a:ext cx="1139760" cy="7585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Google Shape;87;p 7"/>
          <p:cNvSpPr/>
          <p:nvPr/>
        </p:nvSpPr>
        <p:spPr>
          <a:xfrm>
            <a:off x="18838800" y="7520040"/>
            <a:ext cx="1139760" cy="7585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8" name="Google Shape;87;p 14"/>
          <p:cNvSpPr/>
          <p:nvPr/>
        </p:nvSpPr>
        <p:spPr>
          <a:xfrm>
            <a:off x="18838800" y="9140040"/>
            <a:ext cx="1139760" cy="7585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9" name="Google Shape;87;p 15"/>
          <p:cNvSpPr/>
          <p:nvPr/>
        </p:nvSpPr>
        <p:spPr>
          <a:xfrm>
            <a:off x="12600360" y="7200000"/>
            <a:ext cx="1874160" cy="17197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smells, Design patterns and create Use case diagram.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Google Shape;87;p 11"/>
          <p:cNvSpPr/>
          <p:nvPr/>
        </p:nvSpPr>
        <p:spPr>
          <a:xfrm>
            <a:off x="12657600" y="5478840"/>
            <a:ext cx="1874160" cy="17197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smells, Design patterns and create Use case diagram.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Google Shape;87;p 2"/>
          <p:cNvSpPr/>
          <p:nvPr/>
        </p:nvSpPr>
        <p:spPr>
          <a:xfrm>
            <a:off x="12704400" y="3780000"/>
            <a:ext cx="1874160" cy="17197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smells, Design patterns and create Use case diagram.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Google Shape;87;p 8"/>
          <p:cNvSpPr/>
          <p:nvPr/>
        </p:nvSpPr>
        <p:spPr>
          <a:xfrm>
            <a:off x="12704400" y="2238840"/>
            <a:ext cx="1874160" cy="17197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smells, Design patterns and create Use case diagram.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" name="Google Shape;87;p 9"/>
          <p:cNvSpPr/>
          <p:nvPr/>
        </p:nvSpPr>
        <p:spPr>
          <a:xfrm>
            <a:off x="12600000" y="618840"/>
            <a:ext cx="1874160" cy="17197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smells, Design patterns and create Use case diagram.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04" name="Google Shape;66;p 2"/>
          <p:cNvCxnSpPr/>
          <p:nvPr/>
        </p:nvCxnSpPr>
        <p:spPr>
          <a:xfrm>
            <a:off x="5944680" y="-31320"/>
            <a:ext cx="1800" cy="1085832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305" name="Google Shape;67;p 2"/>
          <p:cNvSpPr/>
          <p:nvPr/>
        </p:nvSpPr>
        <p:spPr>
          <a:xfrm>
            <a:off x="3197160" y="842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Google Shape;68;p 2"/>
          <p:cNvSpPr/>
          <p:nvPr/>
        </p:nvSpPr>
        <p:spPr>
          <a:xfrm>
            <a:off x="6281640" y="842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Google Shape;69;p 2"/>
          <p:cNvSpPr/>
          <p:nvPr/>
        </p:nvSpPr>
        <p:spPr>
          <a:xfrm>
            <a:off x="9366120" y="842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Google Shape;70;p 2"/>
          <p:cNvSpPr/>
          <p:nvPr/>
        </p:nvSpPr>
        <p:spPr>
          <a:xfrm>
            <a:off x="12395880" y="842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9" name="Google Shape;71;p 2"/>
          <p:cNvSpPr/>
          <p:nvPr/>
        </p:nvSpPr>
        <p:spPr>
          <a:xfrm>
            <a:off x="15532560" y="842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" name="Google Shape;72;p 2"/>
          <p:cNvSpPr/>
          <p:nvPr/>
        </p:nvSpPr>
        <p:spPr>
          <a:xfrm>
            <a:off x="18668880" y="842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1" name="Google Shape;73;p 2"/>
          <p:cNvSpPr/>
          <p:nvPr/>
        </p:nvSpPr>
        <p:spPr>
          <a:xfrm>
            <a:off x="167400" y="842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2" name="Google Shape;74;p 2"/>
          <p:cNvSpPr/>
          <p:nvPr/>
        </p:nvSpPr>
        <p:spPr>
          <a:xfrm>
            <a:off x="3197160" y="13856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66565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3" name="Google Shape;75;p 2"/>
          <p:cNvSpPr/>
          <p:nvPr/>
        </p:nvSpPr>
        <p:spPr>
          <a:xfrm>
            <a:off x="3197160" y="296136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67196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4" name="Google Shape;76;p 2"/>
          <p:cNvSpPr/>
          <p:nvPr/>
        </p:nvSpPr>
        <p:spPr>
          <a:xfrm>
            <a:off x="3197160" y="45374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67215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5" name="Google Shape;77;p 2"/>
          <p:cNvSpPr/>
          <p:nvPr/>
        </p:nvSpPr>
        <p:spPr>
          <a:xfrm>
            <a:off x="3197160" y="611316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PT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68509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6" name="Google Shape;78;p 2"/>
          <p:cNvSpPr/>
          <p:nvPr/>
        </p:nvSpPr>
        <p:spPr>
          <a:xfrm>
            <a:off x="3197160" y="76892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68663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7" name="Google Shape;79;p 2"/>
          <p:cNvSpPr/>
          <p:nvPr/>
        </p:nvSpPr>
        <p:spPr>
          <a:xfrm>
            <a:off x="3197160" y="926496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70116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18" name="Google Shape;80;p 2"/>
          <p:cNvCxnSpPr/>
          <p:nvPr/>
        </p:nvCxnSpPr>
        <p:spPr>
          <a:xfrm>
            <a:off x="5607720" y="1625760"/>
            <a:ext cx="16044120" cy="180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319" name="Google Shape;81;p 2"/>
          <p:cNvCxnSpPr/>
          <p:nvPr/>
        </p:nvCxnSpPr>
        <p:spPr>
          <a:xfrm>
            <a:off x="5607720" y="3201840"/>
            <a:ext cx="16044120" cy="180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320" name="Google Shape;82;p 2"/>
          <p:cNvCxnSpPr/>
          <p:nvPr/>
        </p:nvCxnSpPr>
        <p:spPr>
          <a:xfrm>
            <a:off x="5607720" y="4777560"/>
            <a:ext cx="16044120" cy="180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321" name="Google Shape;83;p 2"/>
          <p:cNvCxnSpPr/>
          <p:nvPr/>
        </p:nvCxnSpPr>
        <p:spPr>
          <a:xfrm>
            <a:off x="5607720" y="6353640"/>
            <a:ext cx="16044120" cy="180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322" name="Google Shape;84;p 2"/>
          <p:cNvCxnSpPr/>
          <p:nvPr/>
        </p:nvCxnSpPr>
        <p:spPr>
          <a:xfrm>
            <a:off x="5607720" y="7929360"/>
            <a:ext cx="16044120" cy="180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323" name="Google Shape;85;p 2"/>
          <p:cNvCxnSpPr/>
          <p:nvPr/>
        </p:nvCxnSpPr>
        <p:spPr>
          <a:xfrm>
            <a:off x="5607720" y="9505440"/>
            <a:ext cx="16044120" cy="180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324" name="Google Shape;86;p 2"/>
          <p:cNvSpPr/>
          <p:nvPr/>
        </p:nvSpPr>
        <p:spPr>
          <a:xfrm>
            <a:off x="6235200" y="970920"/>
            <a:ext cx="2409120" cy="9468000"/>
          </a:xfrm>
          <a:prstGeom prst="roundRect">
            <a:avLst>
              <a:gd name="adj" fmla="val 16667"/>
            </a:avLst>
          </a:prstGeom>
          <a:solidFill>
            <a:srgbClr val="ffab40"/>
          </a:solidFill>
          <a:ln>
            <a:solidFill>
              <a:srgbClr val="6f4a1c"/>
            </a:solidFill>
            <a:round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600" strike="noStrike" u="none">
                <a:solidFill>
                  <a:schemeClr val="lt1"/>
                </a:solidFill>
                <a:effectLst/>
                <a:uFillTx/>
                <a:latin typeface="Consolas"/>
                <a:ea typeface="Consolas"/>
              </a:rPr>
              <a:t>Code Smells and design patterns report.</a:t>
            </a:r>
            <a:endParaRPr b="0" lang="pt-PT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pt-PT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600" strike="noStrike" u="none">
                <a:solidFill>
                  <a:schemeClr val="lt1"/>
                </a:solidFill>
                <a:effectLst/>
                <a:uFillTx/>
                <a:latin typeface="Consolas"/>
                <a:ea typeface="Consolas"/>
              </a:rPr>
              <a:t>Use case diagram</a:t>
            </a:r>
            <a:endParaRPr b="0" lang="pt-PT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25" name="Google Shape;91;p 2"/>
          <p:cNvCxnSpPr/>
          <p:nvPr/>
        </p:nvCxnSpPr>
        <p:spPr>
          <a:xfrm>
            <a:off x="2874240" y="-28440"/>
            <a:ext cx="1800" cy="1085868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326" name="Google Shape;87;p 5"/>
          <p:cNvSpPr/>
          <p:nvPr/>
        </p:nvSpPr>
        <p:spPr>
          <a:xfrm>
            <a:off x="18838800" y="1220040"/>
            <a:ext cx="1139760" cy="7585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7" name="Google Shape;87;p 10"/>
          <p:cNvSpPr/>
          <p:nvPr/>
        </p:nvSpPr>
        <p:spPr>
          <a:xfrm>
            <a:off x="12539160" y="8869680"/>
            <a:ext cx="2158920" cy="11829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Design patterns and create Use case diagram.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8" name="Google Shape;87;p 13"/>
          <p:cNvSpPr/>
          <p:nvPr/>
        </p:nvSpPr>
        <p:spPr>
          <a:xfrm>
            <a:off x="18900000" y="2840040"/>
            <a:ext cx="1139760" cy="7585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9" name="Google Shape;87;p 16"/>
          <p:cNvSpPr/>
          <p:nvPr/>
        </p:nvSpPr>
        <p:spPr>
          <a:xfrm>
            <a:off x="18838800" y="4280040"/>
            <a:ext cx="1139760" cy="7585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Google Shape;87;p 17"/>
          <p:cNvSpPr/>
          <p:nvPr/>
        </p:nvSpPr>
        <p:spPr>
          <a:xfrm>
            <a:off x="18838800" y="5940000"/>
            <a:ext cx="1139760" cy="7585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" name="Google Shape;87;p 18"/>
          <p:cNvSpPr/>
          <p:nvPr/>
        </p:nvSpPr>
        <p:spPr>
          <a:xfrm>
            <a:off x="18838800" y="7520040"/>
            <a:ext cx="1139760" cy="7585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2" name="Google Shape;87;p 19"/>
          <p:cNvSpPr/>
          <p:nvPr/>
        </p:nvSpPr>
        <p:spPr>
          <a:xfrm>
            <a:off x="18838800" y="9140040"/>
            <a:ext cx="1139760" cy="7585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 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Google Shape;87;p 20"/>
          <p:cNvSpPr/>
          <p:nvPr/>
        </p:nvSpPr>
        <p:spPr>
          <a:xfrm>
            <a:off x="12600360" y="7560000"/>
            <a:ext cx="1874160" cy="7286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Create Use case diagram.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4" name="Google Shape;87;p 22"/>
          <p:cNvSpPr/>
          <p:nvPr/>
        </p:nvSpPr>
        <p:spPr>
          <a:xfrm>
            <a:off x="12704400" y="3960000"/>
            <a:ext cx="1874160" cy="14389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design patterns and create Use case diagram.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5" name="Google Shape;87;p 23"/>
          <p:cNvSpPr/>
          <p:nvPr/>
        </p:nvSpPr>
        <p:spPr>
          <a:xfrm>
            <a:off x="12704400" y="2637000"/>
            <a:ext cx="1874160" cy="9619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Create Use case diagram.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6" name="Google Shape;87;p 24"/>
          <p:cNvSpPr/>
          <p:nvPr/>
        </p:nvSpPr>
        <p:spPr>
          <a:xfrm>
            <a:off x="12704760" y="979200"/>
            <a:ext cx="1874160" cy="13597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Design patterns and create Use case diagram.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7" name="Google Shape;87;p 25"/>
          <p:cNvSpPr/>
          <p:nvPr/>
        </p:nvSpPr>
        <p:spPr>
          <a:xfrm>
            <a:off x="15840000" y="9000000"/>
            <a:ext cx="1874160" cy="10789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8" name="Google Shape;87;p 26"/>
          <p:cNvSpPr/>
          <p:nvPr/>
        </p:nvSpPr>
        <p:spPr>
          <a:xfrm>
            <a:off x="15840000" y="7380000"/>
            <a:ext cx="1874160" cy="11797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smells, Design patterns.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9" name="Google Shape;87;p 27"/>
          <p:cNvSpPr/>
          <p:nvPr/>
        </p:nvSpPr>
        <p:spPr>
          <a:xfrm>
            <a:off x="15764760" y="5400000"/>
            <a:ext cx="1874160" cy="17197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smells, Design patterns and create Use case diagram.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0" name="Google Shape;87;p 28"/>
          <p:cNvSpPr/>
          <p:nvPr/>
        </p:nvSpPr>
        <p:spPr>
          <a:xfrm>
            <a:off x="15764760" y="4140000"/>
            <a:ext cx="1874160" cy="9997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1" name="Google Shape;87;p 29"/>
          <p:cNvSpPr/>
          <p:nvPr/>
        </p:nvSpPr>
        <p:spPr>
          <a:xfrm>
            <a:off x="15764760" y="2520000"/>
            <a:ext cx="1874160" cy="10789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smells, Design patterns.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2" name="Google Shape;87;p 30"/>
          <p:cNvSpPr/>
          <p:nvPr/>
        </p:nvSpPr>
        <p:spPr>
          <a:xfrm>
            <a:off x="15764760" y="1159200"/>
            <a:ext cx="1874160" cy="9997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Recognize present code smells.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3" name="Google Shape;87;p 21"/>
          <p:cNvSpPr/>
          <p:nvPr/>
        </p:nvSpPr>
        <p:spPr>
          <a:xfrm>
            <a:off x="9540000" y="1080000"/>
            <a:ext cx="1874160" cy="9619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Analyze Code Metrics.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4" name="Google Shape;87;p 31"/>
          <p:cNvSpPr/>
          <p:nvPr/>
        </p:nvSpPr>
        <p:spPr>
          <a:xfrm>
            <a:off x="9540000" y="2700000"/>
            <a:ext cx="1874160" cy="9619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Analyze Code Metrics.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5" name="Google Shape;87;p 32"/>
          <p:cNvSpPr/>
          <p:nvPr/>
        </p:nvSpPr>
        <p:spPr>
          <a:xfrm>
            <a:off x="9540000" y="4320000"/>
            <a:ext cx="1874160" cy="9619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Analyze Code Metrics.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6" name="Google Shape;87;p 33"/>
          <p:cNvSpPr/>
          <p:nvPr/>
        </p:nvSpPr>
        <p:spPr>
          <a:xfrm>
            <a:off x="9644760" y="5877000"/>
            <a:ext cx="1874160" cy="9619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Analyze Code Metrics.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7" name="Google Shape;87;p 34"/>
          <p:cNvSpPr/>
          <p:nvPr/>
        </p:nvSpPr>
        <p:spPr>
          <a:xfrm>
            <a:off x="9720000" y="7380000"/>
            <a:ext cx="1874160" cy="9619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Analyze Code Metrics.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8" name="Google Shape;87;p 35"/>
          <p:cNvSpPr/>
          <p:nvPr/>
        </p:nvSpPr>
        <p:spPr>
          <a:xfrm>
            <a:off x="9824760" y="9117000"/>
            <a:ext cx="1874160" cy="9619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Analyze Code Metrics.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49" name="Google Shape;66;p 3"/>
          <p:cNvCxnSpPr/>
          <p:nvPr/>
        </p:nvCxnSpPr>
        <p:spPr>
          <a:xfrm>
            <a:off x="5944680" y="-31320"/>
            <a:ext cx="1800" cy="1085832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350" name="Google Shape;67;p 3"/>
          <p:cNvSpPr/>
          <p:nvPr/>
        </p:nvSpPr>
        <p:spPr>
          <a:xfrm>
            <a:off x="3197160" y="842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1" name="Google Shape;68;p 3"/>
          <p:cNvSpPr/>
          <p:nvPr/>
        </p:nvSpPr>
        <p:spPr>
          <a:xfrm>
            <a:off x="6281640" y="842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2" name="Google Shape;69;p 3"/>
          <p:cNvSpPr/>
          <p:nvPr/>
        </p:nvSpPr>
        <p:spPr>
          <a:xfrm>
            <a:off x="9366120" y="842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3" name="Google Shape;70;p 3"/>
          <p:cNvSpPr/>
          <p:nvPr/>
        </p:nvSpPr>
        <p:spPr>
          <a:xfrm>
            <a:off x="12395880" y="842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4" name="Google Shape;71;p 3"/>
          <p:cNvSpPr/>
          <p:nvPr/>
        </p:nvSpPr>
        <p:spPr>
          <a:xfrm>
            <a:off x="15532560" y="842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5" name="Google Shape;72;p 3"/>
          <p:cNvSpPr/>
          <p:nvPr/>
        </p:nvSpPr>
        <p:spPr>
          <a:xfrm>
            <a:off x="18668880" y="842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6" name="Google Shape;73;p 3"/>
          <p:cNvSpPr/>
          <p:nvPr/>
        </p:nvSpPr>
        <p:spPr>
          <a:xfrm>
            <a:off x="167400" y="842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7" name="Google Shape;74;p 3"/>
          <p:cNvSpPr/>
          <p:nvPr/>
        </p:nvSpPr>
        <p:spPr>
          <a:xfrm>
            <a:off x="3197160" y="13856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66565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8" name="Google Shape;75;p 3"/>
          <p:cNvSpPr/>
          <p:nvPr/>
        </p:nvSpPr>
        <p:spPr>
          <a:xfrm>
            <a:off x="3197160" y="296136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67196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9" name="Google Shape;76;p 3"/>
          <p:cNvSpPr/>
          <p:nvPr/>
        </p:nvSpPr>
        <p:spPr>
          <a:xfrm>
            <a:off x="3197160" y="45374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67215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0" name="Google Shape;77;p 3"/>
          <p:cNvSpPr/>
          <p:nvPr/>
        </p:nvSpPr>
        <p:spPr>
          <a:xfrm>
            <a:off x="3197160" y="611316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PT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68509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1" name="Google Shape;78;p 3"/>
          <p:cNvSpPr/>
          <p:nvPr/>
        </p:nvSpPr>
        <p:spPr>
          <a:xfrm>
            <a:off x="3197160" y="76892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68663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2" name="Google Shape;79;p 3"/>
          <p:cNvSpPr/>
          <p:nvPr/>
        </p:nvSpPr>
        <p:spPr>
          <a:xfrm>
            <a:off x="3197160" y="926496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70116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63" name="Google Shape;80;p 3"/>
          <p:cNvCxnSpPr/>
          <p:nvPr/>
        </p:nvCxnSpPr>
        <p:spPr>
          <a:xfrm>
            <a:off x="5607720" y="1625760"/>
            <a:ext cx="16044120" cy="180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364" name="Google Shape;81;p 3"/>
          <p:cNvCxnSpPr/>
          <p:nvPr/>
        </p:nvCxnSpPr>
        <p:spPr>
          <a:xfrm>
            <a:off x="5607720" y="3201840"/>
            <a:ext cx="16044120" cy="180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365" name="Google Shape;82;p 3"/>
          <p:cNvCxnSpPr/>
          <p:nvPr/>
        </p:nvCxnSpPr>
        <p:spPr>
          <a:xfrm>
            <a:off x="5607720" y="4777560"/>
            <a:ext cx="16044120" cy="180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366" name="Google Shape;83;p 3"/>
          <p:cNvCxnSpPr/>
          <p:nvPr/>
        </p:nvCxnSpPr>
        <p:spPr>
          <a:xfrm>
            <a:off x="5607720" y="6353640"/>
            <a:ext cx="16044120" cy="180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367" name="Google Shape;84;p 3"/>
          <p:cNvCxnSpPr/>
          <p:nvPr/>
        </p:nvCxnSpPr>
        <p:spPr>
          <a:xfrm>
            <a:off x="5607720" y="7929360"/>
            <a:ext cx="16044120" cy="180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368" name="Google Shape;85;p 3"/>
          <p:cNvCxnSpPr/>
          <p:nvPr/>
        </p:nvCxnSpPr>
        <p:spPr>
          <a:xfrm>
            <a:off x="5607720" y="9505440"/>
            <a:ext cx="16044120" cy="180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369" name="Google Shape;86;p 3"/>
          <p:cNvSpPr/>
          <p:nvPr/>
        </p:nvSpPr>
        <p:spPr>
          <a:xfrm>
            <a:off x="6235200" y="970920"/>
            <a:ext cx="2409120" cy="9468000"/>
          </a:xfrm>
          <a:prstGeom prst="roundRect">
            <a:avLst>
              <a:gd name="adj" fmla="val 16667"/>
            </a:avLst>
          </a:prstGeom>
          <a:solidFill>
            <a:srgbClr val="ffab40"/>
          </a:solidFill>
          <a:ln>
            <a:solidFill>
              <a:srgbClr val="6f4a1c"/>
            </a:solidFill>
            <a:round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600" strike="noStrike" u="none">
                <a:solidFill>
                  <a:schemeClr val="lt1"/>
                </a:solidFill>
                <a:effectLst/>
                <a:uFillTx/>
                <a:latin typeface="Consolas"/>
                <a:ea typeface="Consolas"/>
              </a:rPr>
              <a:t>Code Smells and design patterns report.</a:t>
            </a:r>
            <a:endParaRPr b="0" lang="pt-PT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pt-PT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2600" strike="noStrike" u="none">
                <a:solidFill>
                  <a:schemeClr val="lt1"/>
                </a:solidFill>
                <a:effectLst/>
                <a:uFillTx/>
                <a:latin typeface="Consolas"/>
                <a:ea typeface="Consolas"/>
              </a:rPr>
              <a:t>Use case diagram</a:t>
            </a:r>
            <a:endParaRPr b="0" lang="pt-PT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70" name="Google Shape;91;p 3"/>
          <p:cNvCxnSpPr/>
          <p:nvPr/>
        </p:nvCxnSpPr>
        <p:spPr>
          <a:xfrm>
            <a:off x="2874240" y="-28440"/>
            <a:ext cx="1800" cy="1085868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371" name="Google Shape;87;p 36"/>
          <p:cNvSpPr/>
          <p:nvPr/>
        </p:nvSpPr>
        <p:spPr>
          <a:xfrm rot="33000">
            <a:off x="18352800" y="852480"/>
            <a:ext cx="2879640" cy="12927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codebase. Recognize Design patterns, Code Smells, Code Metrics and create Use case diagram.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2" name="Google Shape;87;p 38"/>
          <p:cNvSpPr/>
          <p:nvPr/>
        </p:nvSpPr>
        <p:spPr>
          <a:xfrm rot="33000">
            <a:off x="18352800" y="8833680"/>
            <a:ext cx="2879640" cy="12927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codebase. Recognize Design patterns, Code Smells, Code Metrics and create Use case diagram.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3" name="Google Shape;87;p 39"/>
          <p:cNvSpPr/>
          <p:nvPr/>
        </p:nvSpPr>
        <p:spPr>
          <a:xfrm rot="33000">
            <a:off x="18352440" y="7213680"/>
            <a:ext cx="2879640" cy="12927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codebase. Recognize Design patterns, Code Smells, Code Metrics and create Use case diagram.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4" name="Google Shape;87;p 40"/>
          <p:cNvSpPr/>
          <p:nvPr/>
        </p:nvSpPr>
        <p:spPr>
          <a:xfrm rot="33000">
            <a:off x="18352440" y="5593680"/>
            <a:ext cx="2879640" cy="12927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codebase. Recognize Design patterns, Code Smells, Code Metrics and create Use case diagram.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5" name="Google Shape;87;p 41"/>
          <p:cNvSpPr/>
          <p:nvPr/>
        </p:nvSpPr>
        <p:spPr>
          <a:xfrm rot="33000">
            <a:off x="18352440" y="4092480"/>
            <a:ext cx="2879640" cy="12927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codebase. Recognize Design patterns, Code Smells, Code Metrics and create Use case diagram.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6" name="Google Shape;87;p 42"/>
          <p:cNvSpPr/>
          <p:nvPr/>
        </p:nvSpPr>
        <p:spPr>
          <a:xfrm rot="33000">
            <a:off x="18352440" y="2533680"/>
            <a:ext cx="2879640" cy="12927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Explore codebase. Recognize Design patterns, Code Smells, Code Metrics and create Use case diagram.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7" name="Google Shape;221;p 1" descr=""/>
          <p:cNvPicPr/>
          <p:nvPr/>
        </p:nvPicPr>
        <p:blipFill>
          <a:blip r:embed="rId1">
            <a:alphaModFix amt="51000"/>
          </a:blip>
          <a:stretch/>
        </p:blipFill>
        <p:spPr>
          <a:xfrm>
            <a:off x="0" y="0"/>
            <a:ext cx="21598200" cy="10798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8" name="Google Shape;222;p 1"/>
          <p:cNvSpPr txBox="1"/>
          <p:nvPr/>
        </p:nvSpPr>
        <p:spPr>
          <a:xfrm>
            <a:off x="814320" y="3300840"/>
            <a:ext cx="19955880" cy="4196880"/>
          </a:xfrm>
          <a:prstGeom prst="rect">
            <a:avLst/>
          </a:prstGeom>
        </p:spPr>
        <p:txBody>
          <a:bodyPr wrap="none" lIns="376200" rIns="376200" tIns="102240" bIns="102240" anchor="ctr" anchorCtr="1">
            <a:prstTxWarp prst="textPlain">
              <a:avLst>
                <a:gd name="adj" fmla="val 50000"/>
              </a:avLst>
            </a:prstTxWarp>
            <a:noAutofit/>
          </a:bodyPr>
          <a:p>
            <a:pPr algn="ctr" defTabSz="914400">
              <a:lnSpc>
                <a:spcPct val="100000"/>
              </a:lnSpc>
            </a:pPr>
            <a:r>
              <a:rPr b="1" lang="pt-PT" sz="1400" strike="noStrike" u="none">
                <a:ln w="114480">
                  <a:solidFill>
                    <a:srgbClr val="434343"/>
                  </a:solidFill>
                  <a:round/>
                </a:ln>
                <a:solidFill>
                  <a:schemeClr val="lt1"/>
                </a:solidFill>
                <a:uFillTx/>
                <a:latin typeface="Consolas"/>
                <a:ea typeface="Arial"/>
              </a:rPr>
              <a:t>Sprint 4</a:t>
            </a:r>
            <a:endParaRPr b="0" lang="pt-PT" sz="1400" strike="noStrike" u="none">
              <a:ln w="114480">
                <a:solidFill>
                  <a:srgbClr val="434343"/>
                </a:solidFill>
                <a:round/>
              </a:ln>
              <a:solidFill>
                <a:schemeClr val="lt1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79" name="Google Shape;66;p15"/>
          <p:cNvCxnSpPr/>
          <p:nvPr/>
        </p:nvCxnSpPr>
        <p:spPr>
          <a:xfrm>
            <a:off x="5944680" y="-31320"/>
            <a:ext cx="1800" cy="1085832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380" name="Google Shape;67;p15"/>
          <p:cNvSpPr/>
          <p:nvPr/>
        </p:nvSpPr>
        <p:spPr>
          <a:xfrm>
            <a:off x="3197160" y="842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1" name="Google Shape;68;p15"/>
          <p:cNvSpPr/>
          <p:nvPr/>
        </p:nvSpPr>
        <p:spPr>
          <a:xfrm>
            <a:off x="6281640" y="842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2" name="Google Shape;69;p15"/>
          <p:cNvSpPr/>
          <p:nvPr/>
        </p:nvSpPr>
        <p:spPr>
          <a:xfrm>
            <a:off x="9366120" y="842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3" name="Google Shape;70;p15"/>
          <p:cNvSpPr/>
          <p:nvPr/>
        </p:nvSpPr>
        <p:spPr>
          <a:xfrm>
            <a:off x="12395880" y="842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4" name="Google Shape;71;p15"/>
          <p:cNvSpPr/>
          <p:nvPr/>
        </p:nvSpPr>
        <p:spPr>
          <a:xfrm>
            <a:off x="15532560" y="842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5" name="Google Shape;72;p15"/>
          <p:cNvSpPr/>
          <p:nvPr/>
        </p:nvSpPr>
        <p:spPr>
          <a:xfrm>
            <a:off x="18668880" y="842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6" name="Google Shape;73;p15"/>
          <p:cNvSpPr/>
          <p:nvPr/>
        </p:nvSpPr>
        <p:spPr>
          <a:xfrm>
            <a:off x="167400" y="842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7" name="Google Shape;74;p15"/>
          <p:cNvSpPr/>
          <p:nvPr/>
        </p:nvSpPr>
        <p:spPr>
          <a:xfrm>
            <a:off x="3197160" y="13856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66565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Google Shape;75;p15"/>
          <p:cNvSpPr/>
          <p:nvPr/>
        </p:nvSpPr>
        <p:spPr>
          <a:xfrm>
            <a:off x="3197160" y="612612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67196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9" name="Google Shape;76;p15"/>
          <p:cNvSpPr/>
          <p:nvPr/>
        </p:nvSpPr>
        <p:spPr>
          <a:xfrm>
            <a:off x="3197160" y="299052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67215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0" name="Google Shape;77;p15"/>
          <p:cNvSpPr/>
          <p:nvPr/>
        </p:nvSpPr>
        <p:spPr>
          <a:xfrm>
            <a:off x="3212280" y="45500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PT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68509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1" name="Google Shape;78;p15"/>
          <p:cNvSpPr/>
          <p:nvPr/>
        </p:nvSpPr>
        <p:spPr>
          <a:xfrm>
            <a:off x="3197160" y="76856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68663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2" name="Google Shape;79;p15"/>
          <p:cNvSpPr/>
          <p:nvPr/>
        </p:nvSpPr>
        <p:spPr>
          <a:xfrm>
            <a:off x="3197160" y="926496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70116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93" name="Google Shape;80;p15"/>
          <p:cNvCxnSpPr/>
          <p:nvPr/>
        </p:nvCxnSpPr>
        <p:spPr>
          <a:xfrm>
            <a:off x="5607720" y="1625760"/>
            <a:ext cx="16044120" cy="180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394" name="Google Shape;81;p15"/>
          <p:cNvCxnSpPr/>
          <p:nvPr/>
        </p:nvCxnSpPr>
        <p:spPr>
          <a:xfrm>
            <a:off x="5607720" y="3201840"/>
            <a:ext cx="16044120" cy="180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395" name="Google Shape;82;p15"/>
          <p:cNvCxnSpPr/>
          <p:nvPr/>
        </p:nvCxnSpPr>
        <p:spPr>
          <a:xfrm>
            <a:off x="5607720" y="4777560"/>
            <a:ext cx="16044120" cy="180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396" name="Google Shape;83;p15"/>
          <p:cNvCxnSpPr/>
          <p:nvPr/>
        </p:nvCxnSpPr>
        <p:spPr>
          <a:xfrm>
            <a:off x="5607720" y="6353640"/>
            <a:ext cx="16044120" cy="180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397" name="Google Shape;84;p15"/>
          <p:cNvCxnSpPr/>
          <p:nvPr/>
        </p:nvCxnSpPr>
        <p:spPr>
          <a:xfrm>
            <a:off x="5607720" y="7929360"/>
            <a:ext cx="16044120" cy="180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398" name="Google Shape;85;p15"/>
          <p:cNvCxnSpPr/>
          <p:nvPr/>
        </p:nvCxnSpPr>
        <p:spPr>
          <a:xfrm>
            <a:off x="5607720" y="9505440"/>
            <a:ext cx="16044120" cy="180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399" name="Google Shape;86;p15"/>
          <p:cNvSpPr/>
          <p:nvPr/>
        </p:nvSpPr>
        <p:spPr>
          <a:xfrm>
            <a:off x="6396120" y="1257120"/>
            <a:ext cx="2435400" cy="38376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As a Mindustry player, I want to upgrade machines with efficiency levels, so that I can create more resources per time unit in case of drills and other resource generators, and have better defences in case of weapons.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0" name="Google Shape;87;p15"/>
          <p:cNvSpPr/>
          <p:nvPr/>
        </p:nvSpPr>
        <p:spPr>
          <a:xfrm>
            <a:off x="167400" y="6967080"/>
            <a:ext cx="2435400" cy="27748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US3: 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As a veteran player, I want to orchestrate a new defensive strategy by pulling enemy air units to the ground, so that I can play the game in a more creative way.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01" name="Google Shape;91;p15"/>
          <p:cNvCxnSpPr/>
          <p:nvPr/>
        </p:nvCxnSpPr>
        <p:spPr>
          <a:xfrm>
            <a:off x="2874240" y="-28440"/>
            <a:ext cx="1800" cy="1085868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402" name="Google Shape;92;p15"/>
          <p:cNvSpPr/>
          <p:nvPr/>
        </p:nvSpPr>
        <p:spPr>
          <a:xfrm>
            <a:off x="6422400" y="6126120"/>
            <a:ext cx="2435400" cy="36158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US2: 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As a player that likes to keep track of everything, I want to receive a text warning everytime I misplace a conveyor for whatever reason and obtain possible fixes, so that I can have everything under my watch and build solid structures quickly.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3" name="Google Shape;86;p15"/>
          <p:cNvSpPr/>
          <p:nvPr/>
        </p:nvSpPr>
        <p:spPr>
          <a:xfrm>
            <a:off x="9366120" y="1257120"/>
            <a:ext cx="2435400" cy="8787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Review and map the existing code related to machines.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4" name="Rectangle 1"/>
          <p:cNvSpPr/>
          <p:nvPr/>
        </p:nvSpPr>
        <p:spPr>
          <a:xfrm>
            <a:off x="0" y="0"/>
            <a:ext cx="21598920" cy="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90000" rIns="90000" tIns="-45000" bIns="-45000" anchor="ctr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Review and map the existing code related to machine efficiency and stats.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5" name="Google Shape;86;p15"/>
          <p:cNvSpPr/>
          <p:nvPr/>
        </p:nvSpPr>
        <p:spPr>
          <a:xfrm>
            <a:off x="9366120" y="2622960"/>
            <a:ext cx="2435400" cy="11574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Identify the classes that could support upgrade levels or if there’s a need to create new ones/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6" name="Google Shape;86;p15"/>
          <p:cNvSpPr/>
          <p:nvPr/>
        </p:nvSpPr>
        <p:spPr>
          <a:xfrm>
            <a:off x="9366120" y="4167720"/>
            <a:ext cx="2435400" cy="11574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Draft possible methods needed for implementing efficieny upgrades.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7" name="Google Shape;86;p15"/>
          <p:cNvSpPr/>
          <p:nvPr/>
        </p:nvSpPr>
        <p:spPr>
          <a:xfrm>
            <a:off x="9366120" y="6126120"/>
            <a:ext cx="2435400" cy="11574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Review and map converyor related code, such as error detection.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8" name="Google Shape;86;p15"/>
          <p:cNvSpPr/>
          <p:nvPr/>
        </p:nvSpPr>
        <p:spPr>
          <a:xfrm>
            <a:off x="9366120" y="7581240"/>
            <a:ext cx="2435400" cy="11574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Locate where warnings and destination checks are currently handled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9" name="Google Shape;86;p15"/>
          <p:cNvSpPr/>
          <p:nvPr/>
        </p:nvSpPr>
        <p:spPr>
          <a:xfrm>
            <a:off x="9366120" y="9036360"/>
            <a:ext cx="2435400" cy="11574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Define the structure and behavior of the new warning messages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0" name="Google Shape;86;p15"/>
          <p:cNvSpPr/>
          <p:nvPr/>
        </p:nvSpPr>
        <p:spPr>
          <a:xfrm>
            <a:off x="167400" y="1639440"/>
            <a:ext cx="2409120" cy="8787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US1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: implementing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1" name="Google Shape;86;p15"/>
          <p:cNvSpPr/>
          <p:nvPr/>
        </p:nvSpPr>
        <p:spPr>
          <a:xfrm>
            <a:off x="184320" y="3568320"/>
            <a:ext cx="2392200" cy="8787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US2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: implementing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12" name="Google Shape;66;p 6"/>
          <p:cNvCxnSpPr/>
          <p:nvPr/>
        </p:nvCxnSpPr>
        <p:spPr>
          <a:xfrm>
            <a:off x="5944680" y="-31320"/>
            <a:ext cx="1800" cy="1085832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413" name="Google Shape;67;p 6"/>
          <p:cNvSpPr/>
          <p:nvPr/>
        </p:nvSpPr>
        <p:spPr>
          <a:xfrm>
            <a:off x="3197160" y="842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4" name="Google Shape;68;p 6"/>
          <p:cNvSpPr/>
          <p:nvPr/>
        </p:nvSpPr>
        <p:spPr>
          <a:xfrm>
            <a:off x="6281640" y="842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5" name="Google Shape;69;p 6"/>
          <p:cNvSpPr/>
          <p:nvPr/>
        </p:nvSpPr>
        <p:spPr>
          <a:xfrm>
            <a:off x="9366120" y="842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6" name="Google Shape;70;p 6"/>
          <p:cNvSpPr/>
          <p:nvPr/>
        </p:nvSpPr>
        <p:spPr>
          <a:xfrm>
            <a:off x="12395880" y="842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7" name="Google Shape;71;p 6"/>
          <p:cNvSpPr/>
          <p:nvPr/>
        </p:nvSpPr>
        <p:spPr>
          <a:xfrm>
            <a:off x="15532560" y="842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8" name="Google Shape;72;p 6"/>
          <p:cNvSpPr/>
          <p:nvPr/>
        </p:nvSpPr>
        <p:spPr>
          <a:xfrm>
            <a:off x="18668880" y="842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9" name="Google Shape;73;p 6"/>
          <p:cNvSpPr/>
          <p:nvPr/>
        </p:nvSpPr>
        <p:spPr>
          <a:xfrm>
            <a:off x="167400" y="842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0" name="Google Shape;74;p 6"/>
          <p:cNvSpPr/>
          <p:nvPr/>
        </p:nvSpPr>
        <p:spPr>
          <a:xfrm>
            <a:off x="3197160" y="13856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66565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1" name="Google Shape;75;p 6"/>
          <p:cNvSpPr/>
          <p:nvPr/>
        </p:nvSpPr>
        <p:spPr>
          <a:xfrm>
            <a:off x="3197160" y="612612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67196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2" name="Google Shape;76;p 6"/>
          <p:cNvSpPr/>
          <p:nvPr/>
        </p:nvSpPr>
        <p:spPr>
          <a:xfrm>
            <a:off x="3197160" y="299052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67215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3" name="Google Shape;77;p 6"/>
          <p:cNvSpPr/>
          <p:nvPr/>
        </p:nvSpPr>
        <p:spPr>
          <a:xfrm>
            <a:off x="3212280" y="45500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PT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68509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4" name="Google Shape;78;p 6"/>
          <p:cNvSpPr/>
          <p:nvPr/>
        </p:nvSpPr>
        <p:spPr>
          <a:xfrm>
            <a:off x="3197160" y="76856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68663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5" name="Google Shape;79;p 6"/>
          <p:cNvSpPr/>
          <p:nvPr/>
        </p:nvSpPr>
        <p:spPr>
          <a:xfrm>
            <a:off x="3197160" y="926496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70116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26" name="Google Shape;80;p 6"/>
          <p:cNvCxnSpPr/>
          <p:nvPr/>
        </p:nvCxnSpPr>
        <p:spPr>
          <a:xfrm>
            <a:off x="5607720" y="1625760"/>
            <a:ext cx="16044120" cy="180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427" name="Google Shape;81;p 6"/>
          <p:cNvCxnSpPr/>
          <p:nvPr/>
        </p:nvCxnSpPr>
        <p:spPr>
          <a:xfrm>
            <a:off x="5607720" y="3201840"/>
            <a:ext cx="16044120" cy="180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428" name="Google Shape;82;p 6"/>
          <p:cNvCxnSpPr/>
          <p:nvPr/>
        </p:nvCxnSpPr>
        <p:spPr>
          <a:xfrm>
            <a:off x="5607720" y="4777560"/>
            <a:ext cx="16044120" cy="180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429" name="Google Shape;83;p 6"/>
          <p:cNvCxnSpPr/>
          <p:nvPr/>
        </p:nvCxnSpPr>
        <p:spPr>
          <a:xfrm>
            <a:off x="5607720" y="6353640"/>
            <a:ext cx="16044120" cy="180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430" name="Google Shape;84;p 6"/>
          <p:cNvCxnSpPr/>
          <p:nvPr/>
        </p:nvCxnSpPr>
        <p:spPr>
          <a:xfrm>
            <a:off x="5607720" y="7929360"/>
            <a:ext cx="16044120" cy="180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431" name="Google Shape;85;p 6"/>
          <p:cNvCxnSpPr/>
          <p:nvPr/>
        </p:nvCxnSpPr>
        <p:spPr>
          <a:xfrm>
            <a:off x="5607720" y="9505440"/>
            <a:ext cx="16044120" cy="180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432" name="Google Shape;86;p 23"/>
          <p:cNvSpPr/>
          <p:nvPr/>
        </p:nvSpPr>
        <p:spPr>
          <a:xfrm>
            <a:off x="6396120" y="1257120"/>
            <a:ext cx="2435400" cy="38376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As a Mindustry player, I want to upgrade machines with efficiency levels, so that I can create more resources per time unit in case of drills and other resource generators, and have better defences in case of weapons.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3" name="Google Shape;87;p 44"/>
          <p:cNvSpPr/>
          <p:nvPr/>
        </p:nvSpPr>
        <p:spPr>
          <a:xfrm>
            <a:off x="167400" y="6967080"/>
            <a:ext cx="2435400" cy="27748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US3: 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As a veteran player, I want to orchestrate a new defensive strategy by pulling enemy air units to the ground, so that I can play the game in a more creative way.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34" name="Google Shape;91;p 6"/>
          <p:cNvCxnSpPr/>
          <p:nvPr/>
        </p:nvCxnSpPr>
        <p:spPr>
          <a:xfrm>
            <a:off x="2874240" y="-28440"/>
            <a:ext cx="1800" cy="1085868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435" name="Google Shape;92;p 1"/>
          <p:cNvSpPr/>
          <p:nvPr/>
        </p:nvSpPr>
        <p:spPr>
          <a:xfrm>
            <a:off x="6422400" y="6126120"/>
            <a:ext cx="2435400" cy="36158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US2: 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As a player that likes to keep track of everything, I want to receive a text warning everytime I misplace a conveyor for whatever reason and obtain possible fixes, so that I can have everything under my watch and build solid structures quickly.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6" name="Google Shape;86;p 25"/>
          <p:cNvSpPr/>
          <p:nvPr/>
        </p:nvSpPr>
        <p:spPr>
          <a:xfrm>
            <a:off x="15532560" y="5913360"/>
            <a:ext cx="2435400" cy="8787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Review and map the existing code related to machines.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7" name="Rectangle 2"/>
          <p:cNvSpPr/>
          <p:nvPr/>
        </p:nvSpPr>
        <p:spPr>
          <a:xfrm>
            <a:off x="0" y="-228600"/>
            <a:ext cx="7889760" cy="45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90000" rIns="90000" tIns="-45000" bIns="-45000" anchor="ctr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Review and map the existing code related to machine efficiency and stats.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8" name="Google Shape;86;p 26"/>
          <p:cNvSpPr/>
          <p:nvPr/>
        </p:nvSpPr>
        <p:spPr>
          <a:xfrm>
            <a:off x="15532560" y="7553880"/>
            <a:ext cx="2435400" cy="11574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Identify the classes that could support upgrade levels or if there’s a need to create new ones/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9" name="Google Shape;86;p 27"/>
          <p:cNvSpPr/>
          <p:nvPr/>
        </p:nvSpPr>
        <p:spPr>
          <a:xfrm>
            <a:off x="15536880" y="9128520"/>
            <a:ext cx="2435400" cy="11574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Draft possible methods needed for implementing efficieny upgrades.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0" name="Google Shape;86;p 28"/>
          <p:cNvSpPr/>
          <p:nvPr/>
        </p:nvSpPr>
        <p:spPr>
          <a:xfrm>
            <a:off x="15532560" y="1127160"/>
            <a:ext cx="2435400" cy="11574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Review and map converyor related code, such as error detection.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1" name="Google Shape;86;p 29"/>
          <p:cNvSpPr/>
          <p:nvPr/>
        </p:nvSpPr>
        <p:spPr>
          <a:xfrm>
            <a:off x="15532560" y="2726640"/>
            <a:ext cx="2435400" cy="11574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Locate where warnings and destination checks are currently handled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2" name="Google Shape;86;p 30"/>
          <p:cNvSpPr/>
          <p:nvPr/>
        </p:nvSpPr>
        <p:spPr>
          <a:xfrm>
            <a:off x="15532560" y="4317120"/>
            <a:ext cx="2435400" cy="11574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Define the structure and behavior of the new warning messages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3" name="Google Shape;86;p 31"/>
          <p:cNvSpPr/>
          <p:nvPr/>
        </p:nvSpPr>
        <p:spPr>
          <a:xfrm>
            <a:off x="12424680" y="1382400"/>
            <a:ext cx="2409120" cy="8787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US1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: implementing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4" name="Google Shape;86;p 32"/>
          <p:cNvSpPr/>
          <p:nvPr/>
        </p:nvSpPr>
        <p:spPr>
          <a:xfrm>
            <a:off x="12395880" y="5940000"/>
            <a:ext cx="2392200" cy="8787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US2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: implementing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5" name="Google Shape;86;p 33"/>
          <p:cNvSpPr/>
          <p:nvPr/>
        </p:nvSpPr>
        <p:spPr>
          <a:xfrm>
            <a:off x="12424680" y="2775600"/>
            <a:ext cx="2409120" cy="8787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US1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: implementing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6" name="Google Shape;86;p 34"/>
          <p:cNvSpPr/>
          <p:nvPr/>
        </p:nvSpPr>
        <p:spPr>
          <a:xfrm>
            <a:off x="12395880" y="4329360"/>
            <a:ext cx="2409120" cy="8787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US1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: implementing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7" name="Google Shape;86;p 35"/>
          <p:cNvSpPr/>
          <p:nvPr/>
        </p:nvSpPr>
        <p:spPr>
          <a:xfrm>
            <a:off x="12395880" y="9079200"/>
            <a:ext cx="2392200" cy="8787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US2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: implementing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8" name="Google Shape;86;p 36"/>
          <p:cNvSpPr/>
          <p:nvPr/>
        </p:nvSpPr>
        <p:spPr>
          <a:xfrm>
            <a:off x="12424680" y="7385760"/>
            <a:ext cx="2392200" cy="8787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US2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: implementing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49" name="Google Shape;66;p 7"/>
          <p:cNvCxnSpPr/>
          <p:nvPr/>
        </p:nvCxnSpPr>
        <p:spPr>
          <a:xfrm>
            <a:off x="5944680" y="-31320"/>
            <a:ext cx="1800" cy="1085832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450" name="Google Shape;67;p 7"/>
          <p:cNvSpPr/>
          <p:nvPr/>
        </p:nvSpPr>
        <p:spPr>
          <a:xfrm>
            <a:off x="3197160" y="842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1" name="Google Shape;68;p 7"/>
          <p:cNvSpPr/>
          <p:nvPr/>
        </p:nvSpPr>
        <p:spPr>
          <a:xfrm>
            <a:off x="6281640" y="842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2" name="Google Shape;69;p 7"/>
          <p:cNvSpPr/>
          <p:nvPr/>
        </p:nvSpPr>
        <p:spPr>
          <a:xfrm>
            <a:off x="9366120" y="842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3" name="Google Shape;70;p 7"/>
          <p:cNvSpPr/>
          <p:nvPr/>
        </p:nvSpPr>
        <p:spPr>
          <a:xfrm>
            <a:off x="12395880" y="842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4" name="Google Shape;71;p 7"/>
          <p:cNvSpPr/>
          <p:nvPr/>
        </p:nvSpPr>
        <p:spPr>
          <a:xfrm>
            <a:off x="15532560" y="842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5" name="Google Shape;72;p 7"/>
          <p:cNvSpPr/>
          <p:nvPr/>
        </p:nvSpPr>
        <p:spPr>
          <a:xfrm>
            <a:off x="18668880" y="842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6" name="Google Shape;73;p 7"/>
          <p:cNvSpPr/>
          <p:nvPr/>
        </p:nvSpPr>
        <p:spPr>
          <a:xfrm>
            <a:off x="167400" y="842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7" name="Google Shape;74;p 7"/>
          <p:cNvSpPr/>
          <p:nvPr/>
        </p:nvSpPr>
        <p:spPr>
          <a:xfrm>
            <a:off x="3197160" y="13856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66565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8" name="Google Shape;75;p 7"/>
          <p:cNvSpPr/>
          <p:nvPr/>
        </p:nvSpPr>
        <p:spPr>
          <a:xfrm>
            <a:off x="3197160" y="612612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67196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9" name="Google Shape;76;p 7"/>
          <p:cNvSpPr/>
          <p:nvPr/>
        </p:nvSpPr>
        <p:spPr>
          <a:xfrm>
            <a:off x="3197160" y="299052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67215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0" name="Google Shape;77;p 7"/>
          <p:cNvSpPr/>
          <p:nvPr/>
        </p:nvSpPr>
        <p:spPr>
          <a:xfrm>
            <a:off x="3212280" y="45500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PT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68509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1" name="Google Shape;78;p 7"/>
          <p:cNvSpPr/>
          <p:nvPr/>
        </p:nvSpPr>
        <p:spPr>
          <a:xfrm>
            <a:off x="3197160" y="76856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68663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2" name="Google Shape;79;p 7"/>
          <p:cNvSpPr/>
          <p:nvPr/>
        </p:nvSpPr>
        <p:spPr>
          <a:xfrm>
            <a:off x="3197160" y="926496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70116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63" name="Google Shape;80;p 7"/>
          <p:cNvCxnSpPr/>
          <p:nvPr/>
        </p:nvCxnSpPr>
        <p:spPr>
          <a:xfrm>
            <a:off x="5607720" y="1625760"/>
            <a:ext cx="16044120" cy="180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464" name="Google Shape;81;p 7"/>
          <p:cNvCxnSpPr/>
          <p:nvPr/>
        </p:nvCxnSpPr>
        <p:spPr>
          <a:xfrm>
            <a:off x="5607720" y="3201840"/>
            <a:ext cx="16044120" cy="180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465" name="Google Shape;82;p 7"/>
          <p:cNvCxnSpPr/>
          <p:nvPr/>
        </p:nvCxnSpPr>
        <p:spPr>
          <a:xfrm>
            <a:off x="5607720" y="4777560"/>
            <a:ext cx="16044120" cy="180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466" name="Google Shape;83;p 7"/>
          <p:cNvCxnSpPr/>
          <p:nvPr/>
        </p:nvCxnSpPr>
        <p:spPr>
          <a:xfrm>
            <a:off x="5607720" y="6353640"/>
            <a:ext cx="16044120" cy="180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467" name="Google Shape;84;p 7"/>
          <p:cNvCxnSpPr/>
          <p:nvPr/>
        </p:nvCxnSpPr>
        <p:spPr>
          <a:xfrm>
            <a:off x="5607720" y="7929360"/>
            <a:ext cx="16044120" cy="180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468" name="Google Shape;85;p 7"/>
          <p:cNvCxnSpPr/>
          <p:nvPr/>
        </p:nvCxnSpPr>
        <p:spPr>
          <a:xfrm>
            <a:off x="5607720" y="9505440"/>
            <a:ext cx="16044120" cy="180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469" name="Google Shape;86;p 19"/>
          <p:cNvSpPr/>
          <p:nvPr/>
        </p:nvSpPr>
        <p:spPr>
          <a:xfrm>
            <a:off x="6396120" y="1257120"/>
            <a:ext cx="2435400" cy="38376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As a Mindustry player, I want to upgrade machines with efficiency levels, so that I can create more resources per time unit in case of drills and other resource generators, and have better defences in case of weapons.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0" name="Google Shape;87;p 45"/>
          <p:cNvSpPr/>
          <p:nvPr/>
        </p:nvSpPr>
        <p:spPr>
          <a:xfrm>
            <a:off x="167400" y="6967080"/>
            <a:ext cx="2435400" cy="27748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US3: 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As a veteran player, I want to orchestrate a new defensive strategy by pulling enemy air units to the ground, so that I can play the game in a more creative way.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71" name="Google Shape;91;p 7"/>
          <p:cNvCxnSpPr/>
          <p:nvPr/>
        </p:nvCxnSpPr>
        <p:spPr>
          <a:xfrm>
            <a:off x="2874240" y="-28440"/>
            <a:ext cx="1800" cy="1085868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472" name="Google Shape;92;p 4"/>
          <p:cNvSpPr/>
          <p:nvPr/>
        </p:nvSpPr>
        <p:spPr>
          <a:xfrm>
            <a:off x="6422400" y="6126120"/>
            <a:ext cx="2435400" cy="36158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US2: 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As a player that likes to keep track of everything, I want to receive a text warning everytime I misplace a conveyor for whatever reason and obtain possible fixes, so that I can have everything under my watch and build solid structures quickly.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3" name="Google Shape;86;p 20"/>
          <p:cNvSpPr/>
          <p:nvPr/>
        </p:nvSpPr>
        <p:spPr>
          <a:xfrm>
            <a:off x="18668880" y="1203840"/>
            <a:ext cx="2435400" cy="8787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Review and map the existing code related to machines.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4" name="Rectangle 5"/>
          <p:cNvSpPr/>
          <p:nvPr/>
        </p:nvSpPr>
        <p:spPr>
          <a:xfrm>
            <a:off x="0" y="-228600"/>
            <a:ext cx="7889760" cy="45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90000" rIns="90000" tIns="-45000" bIns="-45000" anchor="ctr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Review and map the existing code related to machine efficiency and stats.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5" name="Google Shape;86;p 21"/>
          <p:cNvSpPr/>
          <p:nvPr/>
        </p:nvSpPr>
        <p:spPr>
          <a:xfrm>
            <a:off x="18668880" y="2622960"/>
            <a:ext cx="2435400" cy="11574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Identify the classes that could support upgrade levels or if there’s a need to create new ones.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6" name="Google Shape;86;p 22"/>
          <p:cNvSpPr/>
          <p:nvPr/>
        </p:nvSpPr>
        <p:spPr>
          <a:xfrm>
            <a:off x="18668880" y="4265280"/>
            <a:ext cx="2435400" cy="11574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Draft possible methods needed for implementing efficieny upgrades.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7" name="Google Shape;86;p 37"/>
          <p:cNvSpPr/>
          <p:nvPr/>
        </p:nvSpPr>
        <p:spPr>
          <a:xfrm>
            <a:off x="18668880" y="5850000"/>
            <a:ext cx="2435400" cy="11574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Review and map converyor related code, such as error detection.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8" name="Google Shape;86;p 38"/>
          <p:cNvSpPr/>
          <p:nvPr/>
        </p:nvSpPr>
        <p:spPr>
          <a:xfrm>
            <a:off x="18668880" y="8890200"/>
            <a:ext cx="2435400" cy="11574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Locate where warnings and destination checks are currently handled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9" name="Google Shape;86;p 39"/>
          <p:cNvSpPr/>
          <p:nvPr/>
        </p:nvSpPr>
        <p:spPr>
          <a:xfrm>
            <a:off x="18668880" y="7389720"/>
            <a:ext cx="2435400" cy="11574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Define the structure and behavior of the new warning messages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0" name="Google Shape;86;p 41"/>
          <p:cNvSpPr/>
          <p:nvPr/>
        </p:nvSpPr>
        <p:spPr>
          <a:xfrm>
            <a:off x="12424680" y="1382400"/>
            <a:ext cx="2409120" cy="8787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US1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: implementing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1" name="Google Shape;86;p 42"/>
          <p:cNvSpPr/>
          <p:nvPr/>
        </p:nvSpPr>
        <p:spPr>
          <a:xfrm>
            <a:off x="12395880" y="5940000"/>
            <a:ext cx="2392200" cy="8787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US2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: implementing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2" name="Google Shape;86;p 43"/>
          <p:cNvSpPr/>
          <p:nvPr/>
        </p:nvSpPr>
        <p:spPr>
          <a:xfrm>
            <a:off x="12424680" y="2775600"/>
            <a:ext cx="2409120" cy="8787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US1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: implementing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3" name="Google Shape;86;p 44"/>
          <p:cNvSpPr/>
          <p:nvPr/>
        </p:nvSpPr>
        <p:spPr>
          <a:xfrm>
            <a:off x="12395880" y="4329360"/>
            <a:ext cx="2409120" cy="8787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US1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: implementing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4" name="Google Shape;86;p 45"/>
          <p:cNvSpPr/>
          <p:nvPr/>
        </p:nvSpPr>
        <p:spPr>
          <a:xfrm>
            <a:off x="12395880" y="9079200"/>
            <a:ext cx="2392200" cy="8787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US2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: implementing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5" name="Google Shape;86;p 46"/>
          <p:cNvSpPr/>
          <p:nvPr/>
        </p:nvSpPr>
        <p:spPr>
          <a:xfrm>
            <a:off x="12424680" y="7385760"/>
            <a:ext cx="2392200" cy="8787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US2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: implementing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6" name="Google Shape;221;p 1" descr=""/>
          <p:cNvPicPr/>
          <p:nvPr/>
        </p:nvPicPr>
        <p:blipFill>
          <a:blip r:embed="rId1">
            <a:alphaModFix amt="51000"/>
          </a:blip>
          <a:stretch/>
        </p:blipFill>
        <p:spPr>
          <a:xfrm>
            <a:off x="0" y="0"/>
            <a:ext cx="21598200" cy="10798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87" name="Google Shape;222;p 1"/>
          <p:cNvSpPr txBox="1"/>
          <p:nvPr/>
        </p:nvSpPr>
        <p:spPr>
          <a:xfrm>
            <a:off x="814320" y="3300840"/>
            <a:ext cx="19955880" cy="4196880"/>
          </a:xfrm>
          <a:prstGeom prst="rect">
            <a:avLst/>
          </a:prstGeom>
        </p:spPr>
        <p:txBody>
          <a:bodyPr wrap="none" lIns="376200" rIns="376200" tIns="102240" bIns="102240" anchor="ctr" anchorCtr="1">
            <a:prstTxWarp prst="textPlain">
              <a:avLst>
                <a:gd name="adj" fmla="val 50000"/>
              </a:avLst>
            </a:prstTxWarp>
            <a:noAutofit/>
          </a:bodyPr>
          <a:p>
            <a:pPr algn="ctr" defTabSz="914400">
              <a:lnSpc>
                <a:spcPct val="100000"/>
              </a:lnSpc>
            </a:pPr>
            <a:r>
              <a:rPr b="1" lang="pt-PT" sz="1400" strike="noStrike" u="none">
                <a:ln w="114480">
                  <a:solidFill>
                    <a:srgbClr val="434343"/>
                  </a:solidFill>
                  <a:round/>
                </a:ln>
                <a:solidFill>
                  <a:schemeClr val="lt1"/>
                </a:solidFill>
                <a:uFillTx/>
                <a:latin typeface="Consolas"/>
                <a:ea typeface="Arial"/>
              </a:rPr>
              <a:t>Sprint 5</a:t>
            </a:r>
            <a:endParaRPr b="0" lang="pt-PT" sz="1400" strike="noStrike" u="none">
              <a:ln w="114480">
                <a:solidFill>
                  <a:srgbClr val="434343"/>
                </a:solidFill>
                <a:round/>
              </a:ln>
              <a:solidFill>
                <a:schemeClr val="lt1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88" name="Google Shape;66;p15"/>
          <p:cNvCxnSpPr/>
          <p:nvPr/>
        </p:nvCxnSpPr>
        <p:spPr>
          <a:xfrm>
            <a:off x="5944680" y="-31320"/>
            <a:ext cx="1800" cy="1085832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489" name="Google Shape;67;p15"/>
          <p:cNvSpPr/>
          <p:nvPr/>
        </p:nvSpPr>
        <p:spPr>
          <a:xfrm>
            <a:off x="3197160" y="842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0" name="Google Shape;68;p15"/>
          <p:cNvSpPr/>
          <p:nvPr/>
        </p:nvSpPr>
        <p:spPr>
          <a:xfrm>
            <a:off x="6281640" y="842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1" name="Google Shape;69;p15"/>
          <p:cNvSpPr/>
          <p:nvPr/>
        </p:nvSpPr>
        <p:spPr>
          <a:xfrm>
            <a:off x="9366120" y="842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2" name="Google Shape;70;p15"/>
          <p:cNvSpPr/>
          <p:nvPr/>
        </p:nvSpPr>
        <p:spPr>
          <a:xfrm>
            <a:off x="12395880" y="842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3" name="Google Shape;71;p15"/>
          <p:cNvSpPr/>
          <p:nvPr/>
        </p:nvSpPr>
        <p:spPr>
          <a:xfrm>
            <a:off x="15532560" y="842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4" name="Google Shape;72;p15"/>
          <p:cNvSpPr/>
          <p:nvPr/>
        </p:nvSpPr>
        <p:spPr>
          <a:xfrm>
            <a:off x="18668880" y="842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5" name="Google Shape;73;p15"/>
          <p:cNvSpPr/>
          <p:nvPr/>
        </p:nvSpPr>
        <p:spPr>
          <a:xfrm>
            <a:off x="167400" y="842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6" name="Google Shape;74;p15"/>
          <p:cNvSpPr/>
          <p:nvPr/>
        </p:nvSpPr>
        <p:spPr>
          <a:xfrm>
            <a:off x="3197160" y="13856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66565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7" name="Google Shape;75;p15"/>
          <p:cNvSpPr/>
          <p:nvPr/>
        </p:nvSpPr>
        <p:spPr>
          <a:xfrm>
            <a:off x="3197160" y="612612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67196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8" name="Google Shape;76;p15"/>
          <p:cNvSpPr/>
          <p:nvPr/>
        </p:nvSpPr>
        <p:spPr>
          <a:xfrm>
            <a:off x="3197160" y="299052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67215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9" name="Google Shape;77;p15"/>
          <p:cNvSpPr/>
          <p:nvPr/>
        </p:nvSpPr>
        <p:spPr>
          <a:xfrm>
            <a:off x="3212280" y="45500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PT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68509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0" name="Google Shape;78;p15"/>
          <p:cNvSpPr/>
          <p:nvPr/>
        </p:nvSpPr>
        <p:spPr>
          <a:xfrm>
            <a:off x="3197160" y="76856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68663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1" name="Google Shape;79;p15"/>
          <p:cNvSpPr/>
          <p:nvPr/>
        </p:nvSpPr>
        <p:spPr>
          <a:xfrm>
            <a:off x="3197160" y="926496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70116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02" name="Google Shape;80;p15"/>
          <p:cNvCxnSpPr/>
          <p:nvPr/>
        </p:nvCxnSpPr>
        <p:spPr>
          <a:xfrm>
            <a:off x="5607720" y="1625760"/>
            <a:ext cx="16044120" cy="180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03" name="Google Shape;81;p15"/>
          <p:cNvCxnSpPr/>
          <p:nvPr/>
        </p:nvCxnSpPr>
        <p:spPr>
          <a:xfrm>
            <a:off x="5607720" y="3201840"/>
            <a:ext cx="16044120" cy="180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04" name="Google Shape;82;p15"/>
          <p:cNvCxnSpPr/>
          <p:nvPr/>
        </p:nvCxnSpPr>
        <p:spPr>
          <a:xfrm>
            <a:off x="5607720" y="4777560"/>
            <a:ext cx="16044120" cy="180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05" name="Google Shape;83;p15"/>
          <p:cNvCxnSpPr/>
          <p:nvPr/>
        </p:nvCxnSpPr>
        <p:spPr>
          <a:xfrm>
            <a:off x="5607720" y="6353640"/>
            <a:ext cx="16044120" cy="180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06" name="Google Shape;84;p15"/>
          <p:cNvCxnSpPr/>
          <p:nvPr/>
        </p:nvCxnSpPr>
        <p:spPr>
          <a:xfrm>
            <a:off x="5607720" y="7929360"/>
            <a:ext cx="16044120" cy="180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07" name="Google Shape;85;p15"/>
          <p:cNvCxnSpPr/>
          <p:nvPr/>
        </p:nvCxnSpPr>
        <p:spPr>
          <a:xfrm>
            <a:off x="5607720" y="9505440"/>
            <a:ext cx="16044120" cy="180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508" name="Google Shape;86;p15"/>
          <p:cNvSpPr/>
          <p:nvPr/>
        </p:nvSpPr>
        <p:spPr>
          <a:xfrm>
            <a:off x="6396120" y="1257120"/>
            <a:ext cx="2435400" cy="38376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As a Mindustry player, I want to upgrade machines with efficiency levels, so that I can create more resources per time unit in case of drills and other resource generators and have better defences in case of weapons.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9" name="Google Shape;87;p15"/>
          <p:cNvSpPr/>
          <p:nvPr/>
        </p:nvSpPr>
        <p:spPr>
          <a:xfrm>
            <a:off x="167400" y="6967080"/>
            <a:ext cx="2435400" cy="27748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US3: 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As a veteran player, I want to orchestrate a new defensive strategy by pulling enemy air units to the ground, so that I can play the game in a more creative way.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10" name="Google Shape;91;p15"/>
          <p:cNvCxnSpPr/>
          <p:nvPr/>
        </p:nvCxnSpPr>
        <p:spPr>
          <a:xfrm>
            <a:off x="2874240" y="-28440"/>
            <a:ext cx="1800" cy="1085868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511" name="Google Shape;92;p15"/>
          <p:cNvSpPr/>
          <p:nvPr/>
        </p:nvSpPr>
        <p:spPr>
          <a:xfrm>
            <a:off x="6422400" y="6126120"/>
            <a:ext cx="2435400" cy="36158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US2: 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As a player that likes to keep track of everything, I want to receive a text warning everytime I misplace a conveyor for whatever reason and obtain possible fixes, so that I can have everything under my watch and build solid structures quickly.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2" name="Rectangle 1"/>
          <p:cNvSpPr/>
          <p:nvPr/>
        </p:nvSpPr>
        <p:spPr>
          <a:xfrm>
            <a:off x="0" y="0"/>
            <a:ext cx="21598920" cy="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90000" rIns="90000" tIns="-45000" bIns="-45000" anchor="ctr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Review and map the existing code related to machine efficiency and stats.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3" name="Google Shape;86;p15"/>
          <p:cNvSpPr/>
          <p:nvPr/>
        </p:nvSpPr>
        <p:spPr>
          <a:xfrm>
            <a:off x="167400" y="1639440"/>
            <a:ext cx="2409120" cy="8787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US1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: implementing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4" name="Google Shape;86;p15"/>
          <p:cNvSpPr/>
          <p:nvPr/>
        </p:nvSpPr>
        <p:spPr>
          <a:xfrm>
            <a:off x="184320" y="3568320"/>
            <a:ext cx="2392200" cy="8787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US2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: implementing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5" name="Google Shape;86;p15"/>
          <p:cNvSpPr/>
          <p:nvPr/>
        </p:nvSpPr>
        <p:spPr>
          <a:xfrm>
            <a:off x="9143640" y="2887200"/>
            <a:ext cx="2854080" cy="12549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US1</a:t>
            </a:r>
            <a:endParaRPr b="0" lang="pt-PT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6" name="Google Shape;86;p15"/>
          <p:cNvSpPr/>
          <p:nvPr/>
        </p:nvSpPr>
        <p:spPr>
          <a:xfrm>
            <a:off x="9113760" y="4411800"/>
            <a:ext cx="2854080" cy="12549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US1</a:t>
            </a:r>
            <a:endParaRPr b="0" lang="pt-PT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7" name="Google Shape;86;p15"/>
          <p:cNvSpPr/>
          <p:nvPr/>
        </p:nvSpPr>
        <p:spPr>
          <a:xfrm>
            <a:off x="9161640" y="5826960"/>
            <a:ext cx="2854080" cy="12549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US2</a:t>
            </a:r>
            <a:endParaRPr b="0" lang="pt-PT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8" name="Google Shape;86;p15"/>
          <p:cNvSpPr/>
          <p:nvPr/>
        </p:nvSpPr>
        <p:spPr>
          <a:xfrm>
            <a:off x="9113760" y="7150680"/>
            <a:ext cx="2854080" cy="12549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US2</a:t>
            </a:r>
            <a:endParaRPr b="0" lang="pt-PT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9" name="Google Shape;86;p15"/>
          <p:cNvSpPr/>
          <p:nvPr/>
        </p:nvSpPr>
        <p:spPr>
          <a:xfrm>
            <a:off x="12335400" y="867600"/>
            <a:ext cx="2895120" cy="12852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Review and map the existing code related to machines. Identify the classes that could support upgrade levels or if there’s a need to create new ones. Draft possible methods needed for implementing efficiency updates.</a:t>
            </a:r>
            <a:endParaRPr b="0" lang="pt-PT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0" name="Google Shape;86;p15"/>
          <p:cNvSpPr/>
          <p:nvPr/>
        </p:nvSpPr>
        <p:spPr>
          <a:xfrm>
            <a:off x="12233880" y="2587680"/>
            <a:ext cx="2895120" cy="12852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Review and map the existing code related to machines. Identify the classes that could support upgrade levels or if there’s a need to create new ones. Draft possible methods needed for implementing efficiency updates.</a:t>
            </a:r>
            <a:endParaRPr b="0" lang="pt-PT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1" name="Google Shape;86;p15"/>
          <p:cNvSpPr/>
          <p:nvPr/>
        </p:nvSpPr>
        <p:spPr>
          <a:xfrm>
            <a:off x="12319200" y="4411800"/>
            <a:ext cx="2895120" cy="12852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Review and map the existing code related to machines. Identify the classes that could support upgrade levels or if there’s a need to create new ones. Draft possible methods needed for implementing efficiency updates.</a:t>
            </a:r>
            <a:endParaRPr b="0" lang="pt-PT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2" name="Google Shape;86;p15"/>
          <p:cNvSpPr/>
          <p:nvPr/>
        </p:nvSpPr>
        <p:spPr>
          <a:xfrm>
            <a:off x="12380760" y="6051960"/>
            <a:ext cx="2895120" cy="12852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Review and map conveyor related code, such as error detection. Define the structure and behavior or the new warning messages. Locate where warnings and destination checks are currently handled.</a:t>
            </a:r>
            <a:endParaRPr b="0" lang="pt-PT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3" name="Google Shape;86;p15"/>
          <p:cNvSpPr/>
          <p:nvPr/>
        </p:nvSpPr>
        <p:spPr>
          <a:xfrm>
            <a:off x="12330720" y="7604640"/>
            <a:ext cx="2895120" cy="12852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Review and map conveyor related code, such as error detection. Define the structure and behavior or the new warning messages. Locate where warnings and destination checks are currently handled.</a:t>
            </a:r>
            <a:endParaRPr b="0" lang="pt-PT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4" name="Google Shape;86;p15"/>
          <p:cNvSpPr/>
          <p:nvPr/>
        </p:nvSpPr>
        <p:spPr>
          <a:xfrm>
            <a:off x="12181680" y="8951400"/>
            <a:ext cx="2895120" cy="12852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Review and map conveyor related code, such as error detection. Define the structure and behavior or the new warning messages. Locate where warnings and destination checks are currently handled.</a:t>
            </a:r>
            <a:endParaRPr b="0" lang="pt-PT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5" name="Google Shape;86;p15"/>
          <p:cNvSpPr/>
          <p:nvPr/>
        </p:nvSpPr>
        <p:spPr>
          <a:xfrm>
            <a:off x="9263880" y="1309320"/>
            <a:ext cx="2216160" cy="6829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Analyze and implement code regarding US3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6" name="Google Shape;86;p15"/>
          <p:cNvSpPr/>
          <p:nvPr/>
        </p:nvSpPr>
        <p:spPr>
          <a:xfrm>
            <a:off x="9432720" y="9059040"/>
            <a:ext cx="2216160" cy="6829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Analyze and implement code regarding US3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27" name="Google Shape;66;p15"/>
          <p:cNvCxnSpPr/>
          <p:nvPr/>
        </p:nvCxnSpPr>
        <p:spPr>
          <a:xfrm>
            <a:off x="5944680" y="-31320"/>
            <a:ext cx="1800" cy="1085832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528" name="Google Shape;67;p15"/>
          <p:cNvSpPr/>
          <p:nvPr/>
        </p:nvSpPr>
        <p:spPr>
          <a:xfrm>
            <a:off x="3197160" y="842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9" name="Google Shape;68;p15"/>
          <p:cNvSpPr/>
          <p:nvPr/>
        </p:nvSpPr>
        <p:spPr>
          <a:xfrm>
            <a:off x="6281640" y="842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0" name="Google Shape;69;p15"/>
          <p:cNvSpPr/>
          <p:nvPr/>
        </p:nvSpPr>
        <p:spPr>
          <a:xfrm>
            <a:off x="9366120" y="842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1" name="Google Shape;70;p15"/>
          <p:cNvSpPr/>
          <p:nvPr/>
        </p:nvSpPr>
        <p:spPr>
          <a:xfrm>
            <a:off x="12395880" y="842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2" name="Google Shape;71;p15"/>
          <p:cNvSpPr/>
          <p:nvPr/>
        </p:nvSpPr>
        <p:spPr>
          <a:xfrm>
            <a:off x="15532560" y="842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3" name="Google Shape;72;p15"/>
          <p:cNvSpPr/>
          <p:nvPr/>
        </p:nvSpPr>
        <p:spPr>
          <a:xfrm>
            <a:off x="18668880" y="842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4" name="Google Shape;73;p15"/>
          <p:cNvSpPr/>
          <p:nvPr/>
        </p:nvSpPr>
        <p:spPr>
          <a:xfrm>
            <a:off x="167400" y="842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5" name="Google Shape;74;p15"/>
          <p:cNvSpPr/>
          <p:nvPr/>
        </p:nvSpPr>
        <p:spPr>
          <a:xfrm>
            <a:off x="3197160" y="13856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66565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6" name="Google Shape;75;p15"/>
          <p:cNvSpPr/>
          <p:nvPr/>
        </p:nvSpPr>
        <p:spPr>
          <a:xfrm>
            <a:off x="3197160" y="612612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67196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7" name="Google Shape;76;p15"/>
          <p:cNvSpPr/>
          <p:nvPr/>
        </p:nvSpPr>
        <p:spPr>
          <a:xfrm>
            <a:off x="3197160" y="299052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67215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8" name="Google Shape;77;p15"/>
          <p:cNvSpPr/>
          <p:nvPr/>
        </p:nvSpPr>
        <p:spPr>
          <a:xfrm>
            <a:off x="3212280" y="45500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PT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68509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9" name="Google Shape;78;p15"/>
          <p:cNvSpPr/>
          <p:nvPr/>
        </p:nvSpPr>
        <p:spPr>
          <a:xfrm>
            <a:off x="3197160" y="76856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68663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0" name="Google Shape;79;p15"/>
          <p:cNvSpPr/>
          <p:nvPr/>
        </p:nvSpPr>
        <p:spPr>
          <a:xfrm>
            <a:off x="3197160" y="926496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70116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41" name="Google Shape;80;p15"/>
          <p:cNvCxnSpPr/>
          <p:nvPr/>
        </p:nvCxnSpPr>
        <p:spPr>
          <a:xfrm>
            <a:off x="5607720" y="1625760"/>
            <a:ext cx="16044120" cy="180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42" name="Google Shape;81;p15"/>
          <p:cNvCxnSpPr/>
          <p:nvPr/>
        </p:nvCxnSpPr>
        <p:spPr>
          <a:xfrm>
            <a:off x="5607720" y="3201840"/>
            <a:ext cx="16044120" cy="180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43" name="Google Shape;82;p15"/>
          <p:cNvCxnSpPr/>
          <p:nvPr/>
        </p:nvCxnSpPr>
        <p:spPr>
          <a:xfrm>
            <a:off x="5607720" y="4777560"/>
            <a:ext cx="16044120" cy="180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44" name="Google Shape;83;p15"/>
          <p:cNvCxnSpPr/>
          <p:nvPr/>
        </p:nvCxnSpPr>
        <p:spPr>
          <a:xfrm>
            <a:off x="5607720" y="6353640"/>
            <a:ext cx="16044120" cy="180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45" name="Google Shape;84;p15"/>
          <p:cNvCxnSpPr/>
          <p:nvPr/>
        </p:nvCxnSpPr>
        <p:spPr>
          <a:xfrm>
            <a:off x="5607720" y="7929360"/>
            <a:ext cx="16044120" cy="180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46" name="Google Shape;85;p15"/>
          <p:cNvCxnSpPr/>
          <p:nvPr/>
        </p:nvCxnSpPr>
        <p:spPr>
          <a:xfrm>
            <a:off x="5607720" y="9505440"/>
            <a:ext cx="16044120" cy="180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547" name="Google Shape;86;p15"/>
          <p:cNvSpPr/>
          <p:nvPr/>
        </p:nvSpPr>
        <p:spPr>
          <a:xfrm>
            <a:off x="7658640" y="714960"/>
            <a:ext cx="1225440" cy="42051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GB" sz="12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</a:t>
            </a:r>
            <a:r>
              <a:rPr b="0" lang="en-US" sz="12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As a Mindustry player, I want to upgrade machines with efficiency levels, so that I can create more resources per time unit in case of drills and other resource generators and have better defences in case of weapons.</a:t>
            </a:r>
            <a:endParaRPr b="0" lang="pt-PT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48" name="Google Shape;91;p15"/>
          <p:cNvCxnSpPr/>
          <p:nvPr/>
        </p:nvCxnSpPr>
        <p:spPr>
          <a:xfrm>
            <a:off x="2874240" y="-28440"/>
            <a:ext cx="1800" cy="1085868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549" name="Google Shape;92;p15"/>
          <p:cNvSpPr/>
          <p:nvPr/>
        </p:nvSpPr>
        <p:spPr>
          <a:xfrm>
            <a:off x="7695000" y="5102280"/>
            <a:ext cx="1188360" cy="52329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GB" sz="12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US2: </a:t>
            </a:r>
            <a:r>
              <a:rPr b="0" lang="en-US" sz="12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As a player that likes to keep track of everything, I want to receive a text warning everytime I misplace a conveyor for whatever reason and obtain possible fixes, so that I can have everything under my watch and build solid structures quickly.</a:t>
            </a:r>
            <a:endParaRPr b="0" lang="pt-PT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0" name="Rectangle 1"/>
          <p:cNvSpPr/>
          <p:nvPr/>
        </p:nvSpPr>
        <p:spPr>
          <a:xfrm>
            <a:off x="0" y="0"/>
            <a:ext cx="21598920" cy="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90000" rIns="90000" tIns="-45000" bIns="-45000" anchor="ctr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Review and map the existing code related to machine efficiency and stats.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1" name="Google Shape;86;p15"/>
          <p:cNvSpPr/>
          <p:nvPr/>
        </p:nvSpPr>
        <p:spPr>
          <a:xfrm>
            <a:off x="167400" y="1639440"/>
            <a:ext cx="2409120" cy="8787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US1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: implementing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2" name="Google Shape;86;p15"/>
          <p:cNvSpPr/>
          <p:nvPr/>
        </p:nvSpPr>
        <p:spPr>
          <a:xfrm>
            <a:off x="184320" y="3568320"/>
            <a:ext cx="2392200" cy="8787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US2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: implementing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3" name="Google Shape;86;p15"/>
          <p:cNvSpPr/>
          <p:nvPr/>
        </p:nvSpPr>
        <p:spPr>
          <a:xfrm>
            <a:off x="15395040" y="859680"/>
            <a:ext cx="2895120" cy="12852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Review and map the existing code related to machines. Identify the classes that could support upgrade levels or if there’s a need to create new ones. Draft possible methods needed for implementing efficiency updates.</a:t>
            </a:r>
            <a:endParaRPr b="0" lang="pt-PT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4" name="Google Shape;86;p15"/>
          <p:cNvSpPr/>
          <p:nvPr/>
        </p:nvSpPr>
        <p:spPr>
          <a:xfrm>
            <a:off x="15293520" y="2579760"/>
            <a:ext cx="2895120" cy="12852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Review and map the existing code related to machines. Identify the classes that could support upgrade levels or if there’s a need to create new ones. Draft possible methods needed for implementing efficiency updates.</a:t>
            </a:r>
            <a:endParaRPr b="0" lang="pt-PT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5" name="Google Shape;86;p15"/>
          <p:cNvSpPr/>
          <p:nvPr/>
        </p:nvSpPr>
        <p:spPr>
          <a:xfrm>
            <a:off x="15378840" y="4403880"/>
            <a:ext cx="2895120" cy="12852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Review and map the existing code related to machines. Identify the classes that could support upgrade levels or if there’s a need to create new ones. Draft possible methods needed for implementing efficiency updates.</a:t>
            </a:r>
            <a:endParaRPr b="0" lang="pt-PT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6" name="Google Shape;86;p15"/>
          <p:cNvSpPr/>
          <p:nvPr/>
        </p:nvSpPr>
        <p:spPr>
          <a:xfrm>
            <a:off x="15440400" y="6044400"/>
            <a:ext cx="2895120" cy="12852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Review and map conveyor related code, such as error detection. Define the structure and behavior or the new warning messages. Locate where warnings and destination checks are currently handled.</a:t>
            </a:r>
            <a:endParaRPr b="0" lang="pt-PT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7" name="Google Shape;86;p15"/>
          <p:cNvSpPr/>
          <p:nvPr/>
        </p:nvSpPr>
        <p:spPr>
          <a:xfrm>
            <a:off x="15390360" y="7596720"/>
            <a:ext cx="2895120" cy="12852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Review and map conveyor related code, such as error detection. Define the structure and behavior or the new warning messages. Locate where warnings and destination checks are currently handled.</a:t>
            </a:r>
            <a:endParaRPr b="0" lang="pt-PT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8" name="Google Shape;86;p15"/>
          <p:cNvSpPr/>
          <p:nvPr/>
        </p:nvSpPr>
        <p:spPr>
          <a:xfrm>
            <a:off x="15241320" y="8943480"/>
            <a:ext cx="2895120" cy="12852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Review and map conveyor related code, such as error detection. Define the structure and behavior or the new warning messages. Locate where warnings and destination checks are currently handled.</a:t>
            </a:r>
            <a:endParaRPr b="0" lang="pt-PT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9" name="Google Shape;86;p15"/>
          <p:cNvSpPr/>
          <p:nvPr/>
        </p:nvSpPr>
        <p:spPr>
          <a:xfrm>
            <a:off x="9299160" y="1395360"/>
            <a:ext cx="2216160" cy="6829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Analyze and implement code regarding US3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0" name="Google Shape;86;p15"/>
          <p:cNvSpPr/>
          <p:nvPr/>
        </p:nvSpPr>
        <p:spPr>
          <a:xfrm>
            <a:off x="9462600" y="9264960"/>
            <a:ext cx="2216160" cy="6829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Analyze and implement code regarding US3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1" name="Google Shape;87;p15"/>
          <p:cNvSpPr/>
          <p:nvPr/>
        </p:nvSpPr>
        <p:spPr>
          <a:xfrm>
            <a:off x="6135840" y="707040"/>
            <a:ext cx="1544400" cy="17686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GB" sz="105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US3: </a:t>
            </a:r>
            <a:r>
              <a:rPr b="0" lang="en-US" sz="105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As a veteran player, I want to orchestrate a new defensive strategy by pulling enemy air units to the ground, so that I can play the game in a more creative way.</a:t>
            </a:r>
            <a:endParaRPr b="0" lang="pt-PT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2" name="Google Shape;87;p15"/>
          <p:cNvSpPr/>
          <p:nvPr/>
        </p:nvSpPr>
        <p:spPr>
          <a:xfrm>
            <a:off x="6072480" y="8529480"/>
            <a:ext cx="1544400" cy="17686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GB" sz="105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US3: </a:t>
            </a:r>
            <a:r>
              <a:rPr b="0" lang="en-US" sz="105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As a veteran player, I want to orchestrate a new defensive strategy by pulling enemy air units to the ground, so that I can play the game in a more creative way.</a:t>
            </a:r>
            <a:endParaRPr b="0" lang="pt-PT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3" name="Google Shape;86;p15"/>
          <p:cNvSpPr/>
          <p:nvPr/>
        </p:nvSpPr>
        <p:spPr>
          <a:xfrm>
            <a:off x="12365640" y="7708680"/>
            <a:ext cx="2409120" cy="8438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US2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4" name="Google Shape;86;p15"/>
          <p:cNvSpPr/>
          <p:nvPr/>
        </p:nvSpPr>
        <p:spPr>
          <a:xfrm>
            <a:off x="12359520" y="5951880"/>
            <a:ext cx="2409120" cy="8438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US2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5" name="Google Shape;86;p15"/>
          <p:cNvSpPr/>
          <p:nvPr/>
        </p:nvSpPr>
        <p:spPr>
          <a:xfrm>
            <a:off x="12394440" y="4339800"/>
            <a:ext cx="2409120" cy="8438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US1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6" name="Google Shape;86;p15"/>
          <p:cNvSpPr/>
          <p:nvPr/>
        </p:nvSpPr>
        <p:spPr>
          <a:xfrm>
            <a:off x="12228840" y="2876760"/>
            <a:ext cx="2409120" cy="8438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US1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7" name="Google Shape;86;p15"/>
          <p:cNvSpPr/>
          <p:nvPr/>
        </p:nvSpPr>
        <p:spPr>
          <a:xfrm>
            <a:off x="9318600" y="7643880"/>
            <a:ext cx="2409120" cy="8438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8" name="Google Shape;86;p15"/>
          <p:cNvSpPr/>
          <p:nvPr/>
        </p:nvSpPr>
        <p:spPr>
          <a:xfrm>
            <a:off x="9312480" y="5887080"/>
            <a:ext cx="2409120" cy="8438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9" name="Google Shape;86;p15"/>
          <p:cNvSpPr/>
          <p:nvPr/>
        </p:nvSpPr>
        <p:spPr>
          <a:xfrm>
            <a:off x="9347400" y="4275000"/>
            <a:ext cx="2409120" cy="8438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0" name="Google Shape;86;p15"/>
          <p:cNvSpPr/>
          <p:nvPr/>
        </p:nvSpPr>
        <p:spPr>
          <a:xfrm>
            <a:off x="9181800" y="2812320"/>
            <a:ext cx="2409120" cy="8438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71" name="Google Shape;66;p15"/>
          <p:cNvCxnSpPr/>
          <p:nvPr/>
        </p:nvCxnSpPr>
        <p:spPr>
          <a:xfrm>
            <a:off x="5944680" y="-31320"/>
            <a:ext cx="1800" cy="1085832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572" name="Google Shape;67;p15"/>
          <p:cNvSpPr/>
          <p:nvPr/>
        </p:nvSpPr>
        <p:spPr>
          <a:xfrm>
            <a:off x="3197160" y="842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3" name="Google Shape;68;p15"/>
          <p:cNvSpPr/>
          <p:nvPr/>
        </p:nvSpPr>
        <p:spPr>
          <a:xfrm>
            <a:off x="6281640" y="842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4" name="Google Shape;69;p15"/>
          <p:cNvSpPr/>
          <p:nvPr/>
        </p:nvSpPr>
        <p:spPr>
          <a:xfrm>
            <a:off x="9366120" y="842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5" name="Google Shape;70;p15"/>
          <p:cNvSpPr/>
          <p:nvPr/>
        </p:nvSpPr>
        <p:spPr>
          <a:xfrm>
            <a:off x="12395880" y="842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6" name="Google Shape;71;p15"/>
          <p:cNvSpPr/>
          <p:nvPr/>
        </p:nvSpPr>
        <p:spPr>
          <a:xfrm>
            <a:off x="15532560" y="842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7" name="Google Shape;72;p15"/>
          <p:cNvSpPr/>
          <p:nvPr/>
        </p:nvSpPr>
        <p:spPr>
          <a:xfrm>
            <a:off x="18668880" y="842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8" name="Google Shape;73;p15"/>
          <p:cNvSpPr/>
          <p:nvPr/>
        </p:nvSpPr>
        <p:spPr>
          <a:xfrm>
            <a:off x="167400" y="842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9" name="Google Shape;74;p15"/>
          <p:cNvSpPr/>
          <p:nvPr/>
        </p:nvSpPr>
        <p:spPr>
          <a:xfrm>
            <a:off x="3197160" y="13856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66565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0" name="Google Shape;75;p15"/>
          <p:cNvSpPr/>
          <p:nvPr/>
        </p:nvSpPr>
        <p:spPr>
          <a:xfrm>
            <a:off x="3197160" y="612612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67196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1" name="Google Shape;76;p15"/>
          <p:cNvSpPr/>
          <p:nvPr/>
        </p:nvSpPr>
        <p:spPr>
          <a:xfrm>
            <a:off x="3197160" y="299052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67215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2" name="Google Shape;77;p15"/>
          <p:cNvSpPr/>
          <p:nvPr/>
        </p:nvSpPr>
        <p:spPr>
          <a:xfrm>
            <a:off x="3212280" y="45500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PT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68509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3" name="Google Shape;78;p15"/>
          <p:cNvSpPr/>
          <p:nvPr/>
        </p:nvSpPr>
        <p:spPr>
          <a:xfrm>
            <a:off x="3197160" y="76856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68663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4" name="Google Shape;79;p15"/>
          <p:cNvSpPr/>
          <p:nvPr/>
        </p:nvSpPr>
        <p:spPr>
          <a:xfrm>
            <a:off x="3197160" y="926496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70116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85" name="Google Shape;80;p15"/>
          <p:cNvCxnSpPr/>
          <p:nvPr/>
        </p:nvCxnSpPr>
        <p:spPr>
          <a:xfrm>
            <a:off x="5607720" y="1625760"/>
            <a:ext cx="16044120" cy="180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86" name="Google Shape;81;p15"/>
          <p:cNvCxnSpPr/>
          <p:nvPr/>
        </p:nvCxnSpPr>
        <p:spPr>
          <a:xfrm>
            <a:off x="5607720" y="3201840"/>
            <a:ext cx="16044120" cy="180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87" name="Google Shape;82;p15"/>
          <p:cNvCxnSpPr/>
          <p:nvPr/>
        </p:nvCxnSpPr>
        <p:spPr>
          <a:xfrm>
            <a:off x="5607720" y="4777560"/>
            <a:ext cx="16044120" cy="180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88" name="Google Shape;83;p15"/>
          <p:cNvCxnSpPr/>
          <p:nvPr/>
        </p:nvCxnSpPr>
        <p:spPr>
          <a:xfrm>
            <a:off x="5607720" y="6353640"/>
            <a:ext cx="16044120" cy="180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89" name="Google Shape;84;p15"/>
          <p:cNvCxnSpPr/>
          <p:nvPr/>
        </p:nvCxnSpPr>
        <p:spPr>
          <a:xfrm>
            <a:off x="5607720" y="7929360"/>
            <a:ext cx="16044120" cy="180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590" name="Google Shape;85;p15"/>
          <p:cNvCxnSpPr/>
          <p:nvPr/>
        </p:nvCxnSpPr>
        <p:spPr>
          <a:xfrm>
            <a:off x="5607720" y="9505440"/>
            <a:ext cx="16044120" cy="180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591" name="Google Shape;86;p15"/>
          <p:cNvSpPr/>
          <p:nvPr/>
        </p:nvSpPr>
        <p:spPr>
          <a:xfrm>
            <a:off x="7658640" y="714960"/>
            <a:ext cx="1225440" cy="42051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GB" sz="12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</a:t>
            </a:r>
            <a:r>
              <a:rPr b="0" lang="en-US" sz="12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As a Mindustry player, I want to upgrade machines with efficiency levels, so that I can create more resources per time unit in case of drills and other resource generators and have better defences in case of weapons.</a:t>
            </a:r>
            <a:endParaRPr b="0" lang="pt-PT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92" name="Google Shape;91;p15"/>
          <p:cNvCxnSpPr/>
          <p:nvPr/>
        </p:nvCxnSpPr>
        <p:spPr>
          <a:xfrm>
            <a:off x="2874240" y="-28440"/>
            <a:ext cx="1800" cy="1085868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593" name="Google Shape;92;p15"/>
          <p:cNvSpPr/>
          <p:nvPr/>
        </p:nvSpPr>
        <p:spPr>
          <a:xfrm>
            <a:off x="7695000" y="5102280"/>
            <a:ext cx="1188360" cy="52329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GB" sz="12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US2: </a:t>
            </a:r>
            <a:r>
              <a:rPr b="0" lang="en-US" sz="12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As a player that likes to keep track of everything, I want to receive a text warning everytime I misplace a conveyor for whatever reason and obtain possible fixes, so that I can have everything under my watch and build solid structures quickly.</a:t>
            </a:r>
            <a:endParaRPr b="0" lang="pt-PT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4" name="Rectangle 1"/>
          <p:cNvSpPr/>
          <p:nvPr/>
        </p:nvSpPr>
        <p:spPr>
          <a:xfrm>
            <a:off x="0" y="0"/>
            <a:ext cx="21598920" cy="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90000" rIns="90000" tIns="-45000" bIns="-45000" anchor="ctr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Review and map the existing code related to machine efficiency and stats.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5" name="Google Shape;86;p15"/>
          <p:cNvSpPr/>
          <p:nvPr/>
        </p:nvSpPr>
        <p:spPr>
          <a:xfrm>
            <a:off x="167400" y="1639440"/>
            <a:ext cx="2409120" cy="8787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US1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: implementing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6" name="Google Shape;86;p15"/>
          <p:cNvSpPr/>
          <p:nvPr/>
        </p:nvSpPr>
        <p:spPr>
          <a:xfrm>
            <a:off x="184320" y="3568320"/>
            <a:ext cx="2392200" cy="8787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US2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: implementing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7" name="Google Shape;86;p15"/>
          <p:cNvSpPr/>
          <p:nvPr/>
        </p:nvSpPr>
        <p:spPr>
          <a:xfrm>
            <a:off x="15395040" y="859680"/>
            <a:ext cx="2895120" cy="12852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Review and map the existing code related to machines. Identify the classes that could support upgrade levels or if there’s a need to create new ones. Draft possible methods needed for implementing efficiency updates.</a:t>
            </a:r>
            <a:endParaRPr b="0" lang="pt-PT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8" name="Google Shape;86;p15"/>
          <p:cNvSpPr/>
          <p:nvPr/>
        </p:nvSpPr>
        <p:spPr>
          <a:xfrm>
            <a:off x="15293520" y="2579760"/>
            <a:ext cx="2895120" cy="12852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Review and map the existing code related to machines. Identify the classes that could support upgrade levels or if there’s a need to create new ones. Draft possible methods needed for implementing efficiency updates.</a:t>
            </a:r>
            <a:endParaRPr b="0" lang="pt-PT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9" name="Google Shape;86;p15"/>
          <p:cNvSpPr/>
          <p:nvPr/>
        </p:nvSpPr>
        <p:spPr>
          <a:xfrm>
            <a:off x="15378840" y="4403880"/>
            <a:ext cx="2895120" cy="12852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Review and map the existing code related to machines. Identify the classes that could support upgrade levels or if there’s a need to create new ones. Draft possible methods needed for implementing efficiency updates.</a:t>
            </a:r>
            <a:endParaRPr b="0" lang="pt-PT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0" name="Google Shape;86;p15"/>
          <p:cNvSpPr/>
          <p:nvPr/>
        </p:nvSpPr>
        <p:spPr>
          <a:xfrm>
            <a:off x="15440400" y="6044400"/>
            <a:ext cx="2895120" cy="12852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Review and map conveyor related code, such as error detection. Define the structure and behavior or the new warning messages. Locate where warnings and destination checks are currently handled.</a:t>
            </a:r>
            <a:endParaRPr b="0" lang="pt-PT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1" name="Google Shape;86;p15"/>
          <p:cNvSpPr/>
          <p:nvPr/>
        </p:nvSpPr>
        <p:spPr>
          <a:xfrm>
            <a:off x="15390360" y="7596720"/>
            <a:ext cx="2895120" cy="12852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Review and map conveyor related code, such as error detection. Define the structure and behavior or the new warning messages. Locate where warnings and destination checks are currently handled.</a:t>
            </a:r>
            <a:endParaRPr b="0" lang="pt-PT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2" name="Google Shape;86;p15"/>
          <p:cNvSpPr/>
          <p:nvPr/>
        </p:nvSpPr>
        <p:spPr>
          <a:xfrm>
            <a:off x="15241320" y="8943480"/>
            <a:ext cx="2895120" cy="12852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Review and map conveyor related code, such as error detection. Define the structure and behavior or the new warning messages. Locate where warnings and destination checks are currently handled.</a:t>
            </a:r>
            <a:endParaRPr b="0" lang="pt-PT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3" name="Google Shape;86;p15"/>
          <p:cNvSpPr/>
          <p:nvPr/>
        </p:nvSpPr>
        <p:spPr>
          <a:xfrm>
            <a:off x="12325320" y="1395360"/>
            <a:ext cx="2216160" cy="6829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Analyze and implement code regarding US3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4" name="Google Shape;86;p15"/>
          <p:cNvSpPr/>
          <p:nvPr/>
        </p:nvSpPr>
        <p:spPr>
          <a:xfrm>
            <a:off x="12552480" y="9344160"/>
            <a:ext cx="2216160" cy="6829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Analyze and implement code regarding US3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5" name="Google Shape;87;p15"/>
          <p:cNvSpPr/>
          <p:nvPr/>
        </p:nvSpPr>
        <p:spPr>
          <a:xfrm>
            <a:off x="6135840" y="707040"/>
            <a:ext cx="1544400" cy="17686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GB" sz="105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US3: </a:t>
            </a:r>
            <a:r>
              <a:rPr b="0" lang="en-US" sz="105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As a veteran player, I want to orchestrate a new defensive strategy by pulling enemy air units to the ground, so that I can play the game in a more creative way.</a:t>
            </a:r>
            <a:endParaRPr b="0" lang="pt-PT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6" name="Google Shape;87;p15"/>
          <p:cNvSpPr/>
          <p:nvPr/>
        </p:nvSpPr>
        <p:spPr>
          <a:xfrm>
            <a:off x="6072480" y="8529480"/>
            <a:ext cx="1544400" cy="17686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GB" sz="105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US3: </a:t>
            </a:r>
            <a:r>
              <a:rPr b="0" lang="en-US" sz="105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As a veteran player, I want to orchestrate a new defensive strategy by pulling enemy air units to the ground, so that I can play the game in a more creative way.</a:t>
            </a:r>
            <a:endParaRPr b="0" lang="pt-PT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7" name="Google Shape;86;p15"/>
          <p:cNvSpPr/>
          <p:nvPr/>
        </p:nvSpPr>
        <p:spPr>
          <a:xfrm>
            <a:off x="12365640" y="7708680"/>
            <a:ext cx="2409120" cy="8438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US2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8" name="Google Shape;86;p15"/>
          <p:cNvSpPr/>
          <p:nvPr/>
        </p:nvSpPr>
        <p:spPr>
          <a:xfrm>
            <a:off x="12359520" y="5951880"/>
            <a:ext cx="2409120" cy="8438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US2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9" name="Google Shape;86;p15"/>
          <p:cNvSpPr/>
          <p:nvPr/>
        </p:nvSpPr>
        <p:spPr>
          <a:xfrm>
            <a:off x="12394440" y="4339800"/>
            <a:ext cx="2409120" cy="8438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US1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0" name="Google Shape;86;p15"/>
          <p:cNvSpPr/>
          <p:nvPr/>
        </p:nvSpPr>
        <p:spPr>
          <a:xfrm>
            <a:off x="12237840" y="2730600"/>
            <a:ext cx="2409120" cy="8438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US1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1" name="Google Shape;86;p15"/>
          <p:cNvSpPr/>
          <p:nvPr/>
        </p:nvSpPr>
        <p:spPr>
          <a:xfrm>
            <a:off x="9318600" y="7643880"/>
            <a:ext cx="2409120" cy="8438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2" name="Google Shape;86;p15"/>
          <p:cNvSpPr/>
          <p:nvPr/>
        </p:nvSpPr>
        <p:spPr>
          <a:xfrm>
            <a:off x="9312480" y="5887080"/>
            <a:ext cx="2409120" cy="8438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3" name="Google Shape;86;p15"/>
          <p:cNvSpPr/>
          <p:nvPr/>
        </p:nvSpPr>
        <p:spPr>
          <a:xfrm>
            <a:off x="9347400" y="4275000"/>
            <a:ext cx="2409120" cy="8438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4" name="Google Shape;86;p15"/>
          <p:cNvSpPr/>
          <p:nvPr/>
        </p:nvSpPr>
        <p:spPr>
          <a:xfrm>
            <a:off x="9181800" y="2812320"/>
            <a:ext cx="2409120" cy="8438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5" name="Google Shape;221;p 1" descr=""/>
          <p:cNvPicPr/>
          <p:nvPr/>
        </p:nvPicPr>
        <p:blipFill>
          <a:blip r:embed="rId1">
            <a:alphaModFix amt="51000"/>
          </a:blip>
          <a:stretch/>
        </p:blipFill>
        <p:spPr>
          <a:xfrm>
            <a:off x="0" y="0"/>
            <a:ext cx="21598200" cy="10798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16" name="Google Shape;222;p 1"/>
          <p:cNvSpPr txBox="1"/>
          <p:nvPr/>
        </p:nvSpPr>
        <p:spPr>
          <a:xfrm>
            <a:off x="814320" y="3300840"/>
            <a:ext cx="19955880" cy="4196880"/>
          </a:xfrm>
          <a:prstGeom prst="rect">
            <a:avLst/>
          </a:prstGeom>
        </p:spPr>
        <p:txBody>
          <a:bodyPr wrap="none" lIns="376200" rIns="376200" tIns="102240" bIns="102240" anchor="ctr" anchorCtr="1">
            <a:prstTxWarp prst="textPlain">
              <a:avLst>
                <a:gd name="adj" fmla="val 50000"/>
              </a:avLst>
            </a:prstTxWarp>
            <a:noAutofit/>
          </a:bodyPr>
          <a:p>
            <a:pPr algn="ctr" defTabSz="914400">
              <a:lnSpc>
                <a:spcPct val="100000"/>
              </a:lnSpc>
            </a:pPr>
            <a:r>
              <a:rPr b="1" lang="pt-PT" sz="1400" strike="noStrike" u="none">
                <a:ln w="114480">
                  <a:solidFill>
                    <a:srgbClr val="434343"/>
                  </a:solidFill>
                  <a:round/>
                </a:ln>
                <a:solidFill>
                  <a:schemeClr val="lt1"/>
                </a:solidFill>
                <a:uFillTx/>
                <a:latin typeface="Consolas"/>
                <a:ea typeface="Arial"/>
              </a:rPr>
              <a:t>Sprint 6</a:t>
            </a:r>
            <a:endParaRPr b="0" lang="pt-PT" sz="1400" strike="noStrike" u="none">
              <a:ln w="114480">
                <a:solidFill>
                  <a:srgbClr val="434343"/>
                </a:solidFill>
                <a:round/>
              </a:ln>
              <a:solidFill>
                <a:schemeClr val="lt1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17" name="Google Shape;66;p15"/>
          <p:cNvCxnSpPr/>
          <p:nvPr/>
        </p:nvCxnSpPr>
        <p:spPr>
          <a:xfrm>
            <a:off x="5944680" y="-31320"/>
            <a:ext cx="1800" cy="1085832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618" name="Google Shape;67;p15"/>
          <p:cNvSpPr/>
          <p:nvPr/>
        </p:nvSpPr>
        <p:spPr>
          <a:xfrm>
            <a:off x="3197160" y="842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9" name="Google Shape;68;p15"/>
          <p:cNvSpPr/>
          <p:nvPr/>
        </p:nvSpPr>
        <p:spPr>
          <a:xfrm>
            <a:off x="6281640" y="842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0" name="Google Shape;69;p15"/>
          <p:cNvSpPr/>
          <p:nvPr/>
        </p:nvSpPr>
        <p:spPr>
          <a:xfrm>
            <a:off x="9366120" y="842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1" name="Google Shape;70;p15"/>
          <p:cNvSpPr/>
          <p:nvPr/>
        </p:nvSpPr>
        <p:spPr>
          <a:xfrm>
            <a:off x="12395880" y="842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2" name="Google Shape;71;p15"/>
          <p:cNvSpPr/>
          <p:nvPr/>
        </p:nvSpPr>
        <p:spPr>
          <a:xfrm>
            <a:off x="15532560" y="842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3" name="Google Shape;72;p15"/>
          <p:cNvSpPr/>
          <p:nvPr/>
        </p:nvSpPr>
        <p:spPr>
          <a:xfrm>
            <a:off x="18668880" y="842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4" name="Google Shape;73;p15"/>
          <p:cNvSpPr/>
          <p:nvPr/>
        </p:nvSpPr>
        <p:spPr>
          <a:xfrm>
            <a:off x="167400" y="842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5" name="Google Shape;74;p15"/>
          <p:cNvSpPr/>
          <p:nvPr/>
        </p:nvSpPr>
        <p:spPr>
          <a:xfrm>
            <a:off x="3197160" y="13856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66565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6" name="Google Shape;75;p15"/>
          <p:cNvSpPr/>
          <p:nvPr/>
        </p:nvSpPr>
        <p:spPr>
          <a:xfrm>
            <a:off x="3197160" y="612612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67196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7" name="Google Shape;76;p15"/>
          <p:cNvSpPr/>
          <p:nvPr/>
        </p:nvSpPr>
        <p:spPr>
          <a:xfrm>
            <a:off x="3197160" y="299052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67215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8" name="Google Shape;77;p15"/>
          <p:cNvSpPr/>
          <p:nvPr/>
        </p:nvSpPr>
        <p:spPr>
          <a:xfrm>
            <a:off x="3212280" y="45500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PT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68509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9" name="Google Shape;78;p15"/>
          <p:cNvSpPr/>
          <p:nvPr/>
        </p:nvSpPr>
        <p:spPr>
          <a:xfrm>
            <a:off x="3197160" y="76856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68663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0" name="Google Shape;79;p15"/>
          <p:cNvSpPr/>
          <p:nvPr/>
        </p:nvSpPr>
        <p:spPr>
          <a:xfrm>
            <a:off x="3197160" y="926496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70116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31" name="Google Shape;80;p15"/>
          <p:cNvCxnSpPr/>
          <p:nvPr/>
        </p:nvCxnSpPr>
        <p:spPr>
          <a:xfrm>
            <a:off x="5607720" y="1625760"/>
            <a:ext cx="16044120" cy="180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632" name="Google Shape;81;p15"/>
          <p:cNvCxnSpPr/>
          <p:nvPr/>
        </p:nvCxnSpPr>
        <p:spPr>
          <a:xfrm>
            <a:off x="5607720" y="3201840"/>
            <a:ext cx="16044120" cy="180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633" name="Google Shape;82;p15"/>
          <p:cNvCxnSpPr/>
          <p:nvPr/>
        </p:nvCxnSpPr>
        <p:spPr>
          <a:xfrm>
            <a:off x="5607720" y="4777560"/>
            <a:ext cx="16044120" cy="180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634" name="Google Shape;83;p15"/>
          <p:cNvCxnSpPr/>
          <p:nvPr/>
        </p:nvCxnSpPr>
        <p:spPr>
          <a:xfrm>
            <a:off x="5607720" y="6353640"/>
            <a:ext cx="16044120" cy="180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635" name="Google Shape;84;p15"/>
          <p:cNvCxnSpPr/>
          <p:nvPr/>
        </p:nvCxnSpPr>
        <p:spPr>
          <a:xfrm>
            <a:off x="5607720" y="7929360"/>
            <a:ext cx="16044120" cy="180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636" name="Google Shape;85;p15"/>
          <p:cNvCxnSpPr/>
          <p:nvPr/>
        </p:nvCxnSpPr>
        <p:spPr>
          <a:xfrm>
            <a:off x="5607720" y="9505440"/>
            <a:ext cx="16044120" cy="180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sp>
        <p:nvSpPr>
          <p:cNvPr id="637" name="Google Shape;86;p15"/>
          <p:cNvSpPr/>
          <p:nvPr/>
        </p:nvSpPr>
        <p:spPr>
          <a:xfrm>
            <a:off x="7658640" y="714960"/>
            <a:ext cx="1225440" cy="42051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GB" sz="12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US1: </a:t>
            </a:r>
            <a:r>
              <a:rPr b="0" lang="en-US" sz="12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As a Mindustry player, I want to upgrade machines with efficiency levels, so that I can create more resources per time unit in case of drills and other resource generators and have better defences in case of weapons.</a:t>
            </a:r>
            <a:endParaRPr b="0" lang="pt-PT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38" name="Google Shape;91;p15"/>
          <p:cNvCxnSpPr/>
          <p:nvPr/>
        </p:nvCxnSpPr>
        <p:spPr>
          <a:xfrm>
            <a:off x="2874240" y="-28440"/>
            <a:ext cx="1800" cy="1085868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639" name="Google Shape;92;p15"/>
          <p:cNvSpPr/>
          <p:nvPr/>
        </p:nvSpPr>
        <p:spPr>
          <a:xfrm>
            <a:off x="7695000" y="5102280"/>
            <a:ext cx="1188360" cy="52329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GB" sz="12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US2: </a:t>
            </a:r>
            <a:r>
              <a:rPr b="0" lang="en-US" sz="12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As a player that likes to keep track of everything, I want to receive a text warning everytime I misplace a conveyor for whatever reason and obtain possible fixes, so that I can have everything under my watch and build solid structures quickly.</a:t>
            </a:r>
            <a:endParaRPr b="0" lang="pt-PT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0" name="Rectangle 1"/>
          <p:cNvSpPr/>
          <p:nvPr/>
        </p:nvSpPr>
        <p:spPr>
          <a:xfrm>
            <a:off x="0" y="0"/>
            <a:ext cx="21598920" cy="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90000" rIns="90000" tIns="-45000" bIns="-45000" anchor="ctr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Review and map the existing code related to machine efficiency and stats.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1" name="Google Shape;86;p15"/>
          <p:cNvSpPr/>
          <p:nvPr/>
        </p:nvSpPr>
        <p:spPr>
          <a:xfrm>
            <a:off x="192600" y="2840760"/>
            <a:ext cx="2409120" cy="8787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US3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: implementing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2" name="Google Shape;86;p15"/>
          <p:cNvSpPr/>
          <p:nvPr/>
        </p:nvSpPr>
        <p:spPr>
          <a:xfrm>
            <a:off x="18536400" y="952200"/>
            <a:ext cx="2895120" cy="12852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Review and map the existing code related to machines. Identify the classes that could support upgrade levels or if there’s a need to create new ones. Draft possible methods needed for implementing efficiency updates.</a:t>
            </a:r>
            <a:endParaRPr b="0" lang="pt-PT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3" name="Google Shape;86;p15"/>
          <p:cNvSpPr/>
          <p:nvPr/>
        </p:nvSpPr>
        <p:spPr>
          <a:xfrm>
            <a:off x="18495000" y="2595240"/>
            <a:ext cx="2895120" cy="12852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Review and map the existing code related to machines. Identify the classes that could support upgrade levels or if there’s a need to create new ones. Draft possible methods needed for implementing efficiency updates.</a:t>
            </a:r>
            <a:endParaRPr b="0" lang="pt-PT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4" name="Google Shape;86;p15"/>
          <p:cNvSpPr/>
          <p:nvPr/>
        </p:nvSpPr>
        <p:spPr>
          <a:xfrm>
            <a:off x="18536400" y="4311000"/>
            <a:ext cx="2895120" cy="12852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Review and map the existing code related to machines. Identify the classes that could support upgrade levels or if there’s a need to create new ones. Draft possible methods needed for implementing efficiency updates.</a:t>
            </a:r>
            <a:endParaRPr b="0" lang="pt-PT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5" name="Google Shape;86;p15"/>
          <p:cNvSpPr/>
          <p:nvPr/>
        </p:nvSpPr>
        <p:spPr>
          <a:xfrm>
            <a:off x="18640800" y="5981760"/>
            <a:ext cx="2895120" cy="12852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Review and map conveyor related code, such as error detection. Define the structure and behavior or the new warning messages. Locate where warnings and destination checks are currently handled.</a:t>
            </a:r>
            <a:endParaRPr b="0" lang="pt-PT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6" name="Google Shape;86;p15"/>
          <p:cNvSpPr/>
          <p:nvPr/>
        </p:nvSpPr>
        <p:spPr>
          <a:xfrm>
            <a:off x="18625320" y="7597440"/>
            <a:ext cx="2895120" cy="12852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Review and map conveyor related code, such as error detection. Define the structure and behavior or the new warning messages. Locate where warnings and destination checks are currently handled.</a:t>
            </a:r>
            <a:endParaRPr b="0" lang="pt-PT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7" name="Google Shape;86;p15"/>
          <p:cNvSpPr/>
          <p:nvPr/>
        </p:nvSpPr>
        <p:spPr>
          <a:xfrm>
            <a:off x="18625320" y="9104040"/>
            <a:ext cx="2895120" cy="12852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Review and map conveyor related code, such as error detection. Define the structure and behavior or the new warning messages. Locate where warnings and destination checks are currently handled.</a:t>
            </a:r>
            <a:endParaRPr b="0" lang="pt-PT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8" name="Google Shape;86;p15"/>
          <p:cNvSpPr/>
          <p:nvPr/>
        </p:nvSpPr>
        <p:spPr>
          <a:xfrm>
            <a:off x="12517560" y="1301040"/>
            <a:ext cx="2216160" cy="6829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Analyze and implement code regarding US3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9" name="Google Shape;86;p15"/>
          <p:cNvSpPr/>
          <p:nvPr/>
        </p:nvSpPr>
        <p:spPr>
          <a:xfrm>
            <a:off x="12683520" y="9203400"/>
            <a:ext cx="2216160" cy="68292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Analyze and implement code regarding US3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0" name="Google Shape;87;p15"/>
          <p:cNvSpPr/>
          <p:nvPr/>
        </p:nvSpPr>
        <p:spPr>
          <a:xfrm>
            <a:off x="6135840" y="707040"/>
            <a:ext cx="1544400" cy="17686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GB" sz="105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US3: </a:t>
            </a:r>
            <a:r>
              <a:rPr b="0" lang="en-US" sz="105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As a veteran player, I want to orchestrate a new defensive strategy by pulling enemy air units to the ground, so that I can play the game in a more creative way.</a:t>
            </a:r>
            <a:endParaRPr b="0" lang="pt-PT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1" name="Google Shape;87;p15"/>
          <p:cNvSpPr/>
          <p:nvPr/>
        </p:nvSpPr>
        <p:spPr>
          <a:xfrm>
            <a:off x="6072480" y="8529480"/>
            <a:ext cx="1544400" cy="176868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GB" sz="105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US3: </a:t>
            </a:r>
            <a:r>
              <a:rPr b="0" lang="en-US" sz="105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As a veteran player, I want to orchestrate a new defensive strategy by pulling enemy air units to the ground, so that I can play the game in a more creative way.</a:t>
            </a:r>
            <a:endParaRPr b="0" lang="pt-PT" sz="105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2" name="Google Shape;86;p15"/>
          <p:cNvSpPr/>
          <p:nvPr/>
        </p:nvSpPr>
        <p:spPr>
          <a:xfrm>
            <a:off x="15555960" y="7633440"/>
            <a:ext cx="2409120" cy="8438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US2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3" name="Google Shape;86;p15"/>
          <p:cNvSpPr/>
          <p:nvPr/>
        </p:nvSpPr>
        <p:spPr>
          <a:xfrm>
            <a:off x="15625080" y="5941080"/>
            <a:ext cx="2409120" cy="8438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US2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4" name="Google Shape;86;p15"/>
          <p:cNvSpPr/>
          <p:nvPr/>
        </p:nvSpPr>
        <p:spPr>
          <a:xfrm>
            <a:off x="15532560" y="4380480"/>
            <a:ext cx="2409120" cy="8438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US1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5" name="Google Shape;86;p15"/>
          <p:cNvSpPr/>
          <p:nvPr/>
        </p:nvSpPr>
        <p:spPr>
          <a:xfrm>
            <a:off x="15555960" y="2840760"/>
            <a:ext cx="2409120" cy="8438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US1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6" name="Google Shape;86;p15"/>
          <p:cNvSpPr/>
          <p:nvPr/>
        </p:nvSpPr>
        <p:spPr>
          <a:xfrm>
            <a:off x="9594720" y="7613640"/>
            <a:ext cx="2409120" cy="8438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7" name="Google Shape;86;p15"/>
          <p:cNvSpPr/>
          <p:nvPr/>
        </p:nvSpPr>
        <p:spPr>
          <a:xfrm>
            <a:off x="9567000" y="5891400"/>
            <a:ext cx="2409120" cy="8438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8" name="Google Shape;86;p15"/>
          <p:cNvSpPr/>
          <p:nvPr/>
        </p:nvSpPr>
        <p:spPr>
          <a:xfrm>
            <a:off x="9578520" y="4378680"/>
            <a:ext cx="2409120" cy="8438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9" name="Google Shape;86;p15"/>
          <p:cNvSpPr/>
          <p:nvPr/>
        </p:nvSpPr>
        <p:spPr>
          <a:xfrm>
            <a:off x="9545040" y="2794320"/>
            <a:ext cx="2409120" cy="8438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0" name="Google Shape;86;p15"/>
          <p:cNvSpPr/>
          <p:nvPr/>
        </p:nvSpPr>
        <p:spPr>
          <a:xfrm>
            <a:off x="12484080" y="2779920"/>
            <a:ext cx="2454120" cy="12852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Analysis of possible code smells and design patterns in US1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1" name="Google Shape;86;p15"/>
          <p:cNvSpPr/>
          <p:nvPr/>
        </p:nvSpPr>
        <p:spPr>
          <a:xfrm>
            <a:off x="12517560" y="4273560"/>
            <a:ext cx="2454120" cy="12852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Analysis of possible code smells and design patterns in US1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2" name="Google Shape;86;p15"/>
          <p:cNvSpPr/>
          <p:nvPr/>
        </p:nvSpPr>
        <p:spPr>
          <a:xfrm>
            <a:off x="12564360" y="5904000"/>
            <a:ext cx="2454120" cy="12852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Analysis of possible code smells and design patterns in US2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3" name="Google Shape;86;p15"/>
          <p:cNvSpPr/>
          <p:nvPr/>
        </p:nvSpPr>
        <p:spPr>
          <a:xfrm>
            <a:off x="12616560" y="7437600"/>
            <a:ext cx="2454120" cy="12852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Analysis of possible code smells and design patterns in US2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4" name="Google Shape;221;p 2" descr=""/>
          <p:cNvPicPr/>
          <p:nvPr/>
        </p:nvPicPr>
        <p:blipFill>
          <a:blip r:embed="rId1">
            <a:alphaModFix amt="51000"/>
          </a:blip>
          <a:stretch/>
        </p:blipFill>
        <p:spPr>
          <a:xfrm>
            <a:off x="0" y="0"/>
            <a:ext cx="21598200" cy="10798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65" name="Google Shape;222;p 2"/>
          <p:cNvSpPr txBox="1"/>
          <p:nvPr/>
        </p:nvSpPr>
        <p:spPr>
          <a:xfrm>
            <a:off x="814320" y="3300840"/>
            <a:ext cx="19955880" cy="4196880"/>
          </a:xfrm>
          <a:prstGeom prst="rect">
            <a:avLst/>
          </a:prstGeom>
        </p:spPr>
        <p:txBody>
          <a:bodyPr wrap="none" lIns="376200" rIns="376200" tIns="102240" bIns="102240" anchor="ctr" anchorCtr="1">
            <a:prstTxWarp prst="textPlain">
              <a:avLst>
                <a:gd name="adj" fmla="val 50000"/>
              </a:avLst>
            </a:prstTxWarp>
            <a:noAutofit/>
          </a:bodyPr>
          <a:p>
            <a:pPr algn="ctr" defTabSz="914400">
              <a:lnSpc>
                <a:spcPct val="100000"/>
              </a:lnSpc>
            </a:pPr>
            <a:r>
              <a:rPr b="1" lang="pt-PT" sz="1400" strike="noStrike" u="none">
                <a:ln w="114480">
                  <a:solidFill>
                    <a:srgbClr val="434343"/>
                  </a:solidFill>
                  <a:round/>
                </a:ln>
                <a:solidFill>
                  <a:schemeClr val="lt1"/>
                </a:solidFill>
                <a:uFillTx/>
                <a:latin typeface="Consolas"/>
                <a:ea typeface="Arial"/>
              </a:rPr>
              <a:t>Sprint 7</a:t>
            </a:r>
            <a:endParaRPr b="0" lang="pt-PT" sz="1400" strike="noStrike" u="none">
              <a:ln w="114480">
                <a:solidFill>
                  <a:srgbClr val="434343"/>
                </a:solidFill>
                <a:round/>
              </a:ln>
              <a:solidFill>
                <a:schemeClr val="lt1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66" name="Google Shape;66;p 4"/>
          <p:cNvCxnSpPr/>
          <p:nvPr/>
        </p:nvCxnSpPr>
        <p:spPr>
          <a:xfrm>
            <a:off x="5944680" y="-31320"/>
            <a:ext cx="1800" cy="1085832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667" name="Google Shape;67;p 4"/>
          <p:cNvSpPr/>
          <p:nvPr/>
        </p:nvSpPr>
        <p:spPr>
          <a:xfrm>
            <a:off x="3197160" y="842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Student ID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8" name="Google Shape;68;p 4"/>
          <p:cNvSpPr/>
          <p:nvPr/>
        </p:nvSpPr>
        <p:spPr>
          <a:xfrm>
            <a:off x="6281640" y="842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Story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9" name="Google Shape;69;p 4"/>
          <p:cNvSpPr/>
          <p:nvPr/>
        </p:nvSpPr>
        <p:spPr>
          <a:xfrm>
            <a:off x="9366120" y="842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To Do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0" name="Google Shape;70;p 4"/>
          <p:cNvSpPr/>
          <p:nvPr/>
        </p:nvSpPr>
        <p:spPr>
          <a:xfrm>
            <a:off x="12395880" y="842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Doing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1" name="Google Shape;71;p 4"/>
          <p:cNvSpPr/>
          <p:nvPr/>
        </p:nvSpPr>
        <p:spPr>
          <a:xfrm>
            <a:off x="15532560" y="842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Review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2" name="Google Shape;72;p 4"/>
          <p:cNvSpPr/>
          <p:nvPr/>
        </p:nvSpPr>
        <p:spPr>
          <a:xfrm>
            <a:off x="18668880" y="842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Done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3" name="Google Shape;73;p 4"/>
          <p:cNvSpPr/>
          <p:nvPr/>
        </p:nvSpPr>
        <p:spPr>
          <a:xfrm>
            <a:off x="167400" y="842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28575">
            <a:solidFill>
              <a:srgbClr val="b45f0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Backlog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4" name="Google Shape;74;p 4"/>
          <p:cNvSpPr/>
          <p:nvPr/>
        </p:nvSpPr>
        <p:spPr>
          <a:xfrm>
            <a:off x="3197160" y="13856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66565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5" name="Google Shape;75;p 4"/>
          <p:cNvSpPr/>
          <p:nvPr/>
        </p:nvSpPr>
        <p:spPr>
          <a:xfrm>
            <a:off x="3197160" y="612612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67196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6" name="Google Shape;76;p 4"/>
          <p:cNvSpPr/>
          <p:nvPr/>
        </p:nvSpPr>
        <p:spPr>
          <a:xfrm>
            <a:off x="3197160" y="299052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67215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7" name="Google Shape;77;p 4"/>
          <p:cNvSpPr/>
          <p:nvPr/>
        </p:nvSpPr>
        <p:spPr>
          <a:xfrm>
            <a:off x="3212280" y="45500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pt-PT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68509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8" name="Google Shape;78;p 4"/>
          <p:cNvSpPr/>
          <p:nvPr/>
        </p:nvSpPr>
        <p:spPr>
          <a:xfrm>
            <a:off x="3197160" y="768564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68663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9" name="Google Shape;79;p 4"/>
          <p:cNvSpPr/>
          <p:nvPr/>
        </p:nvSpPr>
        <p:spPr>
          <a:xfrm>
            <a:off x="3197160" y="9264960"/>
            <a:ext cx="2409120" cy="479160"/>
          </a:xfrm>
          <a:prstGeom prst="roundRect">
            <a:avLst>
              <a:gd name="adj" fmla="val 16667"/>
            </a:avLst>
          </a:prstGeom>
          <a:solidFill>
            <a:srgbClr val="e6b8af"/>
          </a:solidFill>
          <a:ln w="28575">
            <a:solidFill>
              <a:srgbClr val="5b0f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GB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70116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80" name="Google Shape;80;p 4"/>
          <p:cNvCxnSpPr/>
          <p:nvPr/>
        </p:nvCxnSpPr>
        <p:spPr>
          <a:xfrm>
            <a:off x="5607720" y="1625760"/>
            <a:ext cx="16044120" cy="180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681" name="Google Shape;81;p 4"/>
          <p:cNvCxnSpPr/>
          <p:nvPr/>
        </p:nvCxnSpPr>
        <p:spPr>
          <a:xfrm>
            <a:off x="5607720" y="3201840"/>
            <a:ext cx="16044120" cy="180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682" name="Google Shape;82;p 4"/>
          <p:cNvCxnSpPr/>
          <p:nvPr/>
        </p:nvCxnSpPr>
        <p:spPr>
          <a:xfrm>
            <a:off x="5607720" y="4777560"/>
            <a:ext cx="16044120" cy="180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683" name="Google Shape;83;p 4"/>
          <p:cNvCxnSpPr/>
          <p:nvPr/>
        </p:nvCxnSpPr>
        <p:spPr>
          <a:xfrm>
            <a:off x="5607720" y="6353640"/>
            <a:ext cx="16044120" cy="180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684" name="Google Shape;84;p 4"/>
          <p:cNvCxnSpPr/>
          <p:nvPr/>
        </p:nvCxnSpPr>
        <p:spPr>
          <a:xfrm>
            <a:off x="5607720" y="7929360"/>
            <a:ext cx="16044120" cy="180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685" name="Google Shape;85;p 4"/>
          <p:cNvCxnSpPr/>
          <p:nvPr/>
        </p:nvCxnSpPr>
        <p:spPr>
          <a:xfrm>
            <a:off x="5607720" y="9505440"/>
            <a:ext cx="16044120" cy="1800"/>
          </a:xfrm>
          <a:prstGeom prst="straightConnector1">
            <a:avLst/>
          </a:prstGeom>
          <a:ln w="28575">
            <a:solidFill>
              <a:srgbClr val="999999"/>
            </a:solidFill>
            <a:prstDash val="dash"/>
            <a:round/>
          </a:ln>
        </p:spPr>
      </p:cxnSp>
      <p:cxnSp>
        <p:nvCxnSpPr>
          <p:cNvPr id="686" name="Google Shape;91;p 4"/>
          <p:cNvCxnSpPr/>
          <p:nvPr/>
        </p:nvCxnSpPr>
        <p:spPr>
          <a:xfrm>
            <a:off x="2874240" y="-28440"/>
            <a:ext cx="1800" cy="10858680"/>
          </a:xfrm>
          <a:prstGeom prst="straightConnector1">
            <a:avLst/>
          </a:prstGeom>
          <a:ln w="38100">
            <a:solidFill>
              <a:srgbClr val="5b0f00"/>
            </a:solidFill>
            <a:round/>
          </a:ln>
        </p:spPr>
      </p:cxnSp>
      <p:sp>
        <p:nvSpPr>
          <p:cNvPr id="687" name="Google Shape;92;p 2"/>
          <p:cNvSpPr/>
          <p:nvPr/>
        </p:nvSpPr>
        <p:spPr>
          <a:xfrm>
            <a:off x="6120000" y="1260000"/>
            <a:ext cx="1188360" cy="84596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US2: 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As a player that likes to keep track of everything, I want to receive a text warning everytime I misplace a conveyor for whatever reason and obtain possible fixes, so that I can have everything under my watch and build solid structures quickly.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8" name="Rectangle 3"/>
          <p:cNvSpPr/>
          <p:nvPr/>
        </p:nvSpPr>
        <p:spPr>
          <a:xfrm>
            <a:off x="6920640" y="-319320"/>
            <a:ext cx="775764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wrap="none" lIns="90000" rIns="90000" tIns="45000" bIns="45000" anchor="ctr">
            <a:spAutoFit/>
          </a:bodyPr>
          <a:p>
            <a:pPr marL="216000" indent="-216000" defTabSz="914400">
              <a:lnSpc>
                <a:spcPct val="100000"/>
              </a:lnSpc>
              <a:buClr>
                <a:srgbClr val="000000"/>
              </a:buClr>
              <a:buFont typeface="Symbol" charset="2"/>
              <a:buChar char="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Review and map the existing code related to machine efficiency and stats.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9" name="Google Shape;86;p 24"/>
          <p:cNvSpPr/>
          <p:nvPr/>
        </p:nvSpPr>
        <p:spPr>
          <a:xfrm>
            <a:off x="180000" y="5960880"/>
            <a:ext cx="2409120" cy="8787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US3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: documenting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0" name="Google Shape;87;p 43"/>
          <p:cNvSpPr/>
          <p:nvPr/>
        </p:nvSpPr>
        <p:spPr>
          <a:xfrm>
            <a:off x="7455240" y="1260000"/>
            <a:ext cx="1184400" cy="84596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en-GB" sz="1400" strike="noStrike" u="non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US3: 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As a veteran player, I want to orchestrate a new defensive strategy by pulling enemy air units to the ground, so that I can play the game in a more creative way.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1" name="Google Shape;86;p 40"/>
          <p:cNvSpPr/>
          <p:nvPr/>
        </p:nvSpPr>
        <p:spPr>
          <a:xfrm>
            <a:off x="9545040" y="2700000"/>
            <a:ext cx="2409120" cy="10796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US2 and  US3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2" name="Google Shape;86;p 4"/>
          <p:cNvSpPr/>
          <p:nvPr/>
        </p:nvSpPr>
        <p:spPr>
          <a:xfrm>
            <a:off x="9540000" y="1080000"/>
            <a:ext cx="2409120" cy="10796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US2 and  US3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3" name="Google Shape;86;p 5"/>
          <p:cNvSpPr/>
          <p:nvPr/>
        </p:nvSpPr>
        <p:spPr>
          <a:xfrm>
            <a:off x="9540000" y="4320000"/>
            <a:ext cx="2409120" cy="10796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US2 and  US3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4" name="Google Shape;86;p 6"/>
          <p:cNvSpPr/>
          <p:nvPr/>
        </p:nvSpPr>
        <p:spPr>
          <a:xfrm>
            <a:off x="9540000" y="5760000"/>
            <a:ext cx="2409120" cy="10796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US2 and  US3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5" name="Google Shape;86;p 7"/>
          <p:cNvSpPr/>
          <p:nvPr/>
        </p:nvSpPr>
        <p:spPr>
          <a:xfrm>
            <a:off x="9540000" y="7380000"/>
            <a:ext cx="2409120" cy="10796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US2 and  US3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6" name="Google Shape;86;p 8"/>
          <p:cNvSpPr/>
          <p:nvPr/>
        </p:nvSpPr>
        <p:spPr>
          <a:xfrm>
            <a:off x="9540000" y="9000000"/>
            <a:ext cx="2409120" cy="107964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Add documentation and tests for US2 and  US3</a:t>
            </a:r>
            <a:endParaRPr b="0" lang="pt-PT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7" name="Google Shape;86;p 9"/>
          <p:cNvSpPr/>
          <p:nvPr/>
        </p:nvSpPr>
        <p:spPr>
          <a:xfrm>
            <a:off x="180000" y="4340880"/>
            <a:ext cx="2409120" cy="87876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28575">
            <a:solidFill>
              <a:srgbClr val="274e1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pt-PT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US2</a:t>
            </a: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: documenting</a:t>
            </a: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b="0" lang="pt-PT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248</TotalTime>
  <Application>LibreOffice/25.2.6.2$Linux_X86_64 LibreOffice_project/40d1a0e1d5bdf1afaeae24d9ece32bbb00fa66a4</Application>
  <AppVersion>15.0000</AppVersion>
  <Words>2951</Words>
  <Paragraphs>426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pt-PT</dc:language>
  <cp:lastModifiedBy/>
  <dcterms:modified xsi:type="dcterms:W3CDTF">2025-12-03T19:19:59Z</dcterms:modified>
  <cp:revision>21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</vt:i4>
  </property>
  <property fmtid="{D5CDD505-2E9C-101B-9397-08002B2CF9AE}" pid="3" name="PresentationFormat">
    <vt:lpwstr>Personalizados</vt:lpwstr>
  </property>
  <property fmtid="{D5CDD505-2E9C-101B-9397-08002B2CF9AE}" pid="4" name="Slides">
    <vt:i4>23</vt:i4>
  </property>
</Properties>
</file>